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fc2c3cd384965" /><Relationship Type="http://schemas.openxmlformats.org/officeDocument/2006/relationships/extended-properties" Target="/docProps/app.xml" Id="R079d4b0ce7e041ed" /><Relationship Type="http://schemas.openxmlformats.org/officeDocument/2006/relationships/officeDocument" Target="/ppt/presentation.xml" Id="R600c1693c561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9830adbd243fe"/>
  </p:sldMasterIdLst>
  <p:notesMasterIdLst>
    <p:notesMasterId xmlns:r="http://schemas.openxmlformats.org/officeDocument/2006/relationships" r:id="R1b1067e91b954af5"/>
  </p:notesMasterIdLst>
  <p:sldIdLst>
    <p:sldId xmlns:r="http://schemas.openxmlformats.org/officeDocument/2006/relationships" id="256" r:id="R67831ec93b184b30"/>
    <p:sldId xmlns:r="http://schemas.openxmlformats.org/officeDocument/2006/relationships" id="257" r:id="R01d2f8dbd25145bc"/>
    <p:sldId xmlns:r="http://schemas.openxmlformats.org/officeDocument/2006/relationships" id="258" r:id="R23b07f68eac04015"/>
    <p:sldId xmlns:r="http://schemas.openxmlformats.org/officeDocument/2006/relationships" id="259" r:id="R6c3597742dfa41a6"/>
    <p:sldId xmlns:r="http://schemas.openxmlformats.org/officeDocument/2006/relationships" id="260" r:id="Rb566aed233dd4739"/>
    <p:sldId xmlns:r="http://schemas.openxmlformats.org/officeDocument/2006/relationships" id="261" r:id="R29a6a4bee1d84d39"/>
    <p:sldId xmlns:r="http://schemas.openxmlformats.org/officeDocument/2006/relationships" id="262" r:id="Rff17911403754e07"/>
    <p:sldId xmlns:r="http://schemas.openxmlformats.org/officeDocument/2006/relationships" id="263" r:id="R491b7654fbe94885"/>
    <p:sldId xmlns:r="http://schemas.openxmlformats.org/officeDocument/2006/relationships" id="264" r:id="R7a499d954cdf4799"/>
    <p:sldId xmlns:r="http://schemas.openxmlformats.org/officeDocument/2006/relationships" id="265" r:id="Rd821ad5d15f0474c"/>
    <p:sldId xmlns:r="http://schemas.openxmlformats.org/officeDocument/2006/relationships" id="266" r:id="R94e52571adc64892"/>
    <p:sldId xmlns:r="http://schemas.openxmlformats.org/officeDocument/2006/relationships" id="267" r:id="R3a7bf6e6e9f44c64"/>
    <p:sldId xmlns:r="http://schemas.openxmlformats.org/officeDocument/2006/relationships" id="268" r:id="Rde5e131ca6d04680"/>
    <p:sldId xmlns:r="http://schemas.openxmlformats.org/officeDocument/2006/relationships" id="269" r:id="R9d6c70c3d5824a47"/>
    <p:sldId xmlns:r="http://schemas.openxmlformats.org/officeDocument/2006/relationships" id="270" r:id="Rd12d63563ea54b6a"/>
    <p:sldId xmlns:r="http://schemas.openxmlformats.org/officeDocument/2006/relationships" id="271" r:id="Rffaade68925140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3b62ed6fca4463" /><Relationship Type="http://schemas.openxmlformats.org/officeDocument/2006/relationships/slideMaster" Target="/ppt/slideMasters/slideMaster1.xml" Id="R7f09830adbd243fe" /><Relationship Type="http://schemas.openxmlformats.org/officeDocument/2006/relationships/notesMaster" Target="/ppt/notesMasters/notesMaster1.xml" Id="R1b1067e91b954af5" /><Relationship Type="http://schemas.openxmlformats.org/officeDocument/2006/relationships/presProps" Target="/ppt/presProps.xml" Id="R96488cb2ee3840a7" /><Relationship Type="http://schemas.openxmlformats.org/officeDocument/2006/relationships/tableStyles" Target="/ppt/tableStyles.xml" Id="R08d49c9eee844422" /><Relationship Type="http://schemas.openxmlformats.org/officeDocument/2006/relationships/slide" Target="/ppt/slides/slide1.xml" Id="R67831ec93b184b30" /><Relationship Type="http://schemas.openxmlformats.org/officeDocument/2006/relationships/slide" Target="/ppt/slides/slide2.xml" Id="R01d2f8dbd25145bc" /><Relationship Type="http://schemas.openxmlformats.org/officeDocument/2006/relationships/slide" Target="/ppt/slides/slide3.xml" Id="R23b07f68eac04015" /><Relationship Type="http://schemas.openxmlformats.org/officeDocument/2006/relationships/slide" Target="/ppt/slides/slide4.xml" Id="R6c3597742dfa41a6" /><Relationship Type="http://schemas.openxmlformats.org/officeDocument/2006/relationships/slide" Target="/ppt/slides/slide5.xml" Id="Rb566aed233dd4739" /><Relationship Type="http://schemas.openxmlformats.org/officeDocument/2006/relationships/slide" Target="/ppt/slides/slide6.xml" Id="R29a6a4bee1d84d39" /><Relationship Type="http://schemas.openxmlformats.org/officeDocument/2006/relationships/slide" Target="/ppt/slides/slide7.xml" Id="Rff17911403754e07" /><Relationship Type="http://schemas.openxmlformats.org/officeDocument/2006/relationships/slide" Target="/ppt/slides/slide8.xml" Id="R491b7654fbe94885" /><Relationship Type="http://schemas.openxmlformats.org/officeDocument/2006/relationships/slide" Target="/ppt/slides/slide9.xml" Id="R7a499d954cdf4799" /><Relationship Type="http://schemas.openxmlformats.org/officeDocument/2006/relationships/slide" Target="/ppt/slides/slide10.xml" Id="Rd821ad5d15f0474c" /><Relationship Type="http://schemas.openxmlformats.org/officeDocument/2006/relationships/slide" Target="/ppt/slides/slide11.xml" Id="R94e52571adc64892" /><Relationship Type="http://schemas.openxmlformats.org/officeDocument/2006/relationships/slide" Target="/ppt/slides/slide12.xml" Id="R3a7bf6e6e9f44c64" /><Relationship Type="http://schemas.openxmlformats.org/officeDocument/2006/relationships/slide" Target="/ppt/slides/slide13.xml" Id="Rde5e131ca6d04680" /><Relationship Type="http://schemas.openxmlformats.org/officeDocument/2006/relationships/slide" Target="/ppt/slides/slide14.xml" Id="R9d6c70c3d5824a47" /><Relationship Type="http://schemas.openxmlformats.org/officeDocument/2006/relationships/slide" Target="/ppt/slides/slide15.xml" Id="Rd12d63563ea54b6a" /><Relationship Type="http://schemas.openxmlformats.org/officeDocument/2006/relationships/slide" Target="/ppt/slides/slide16.xml" Id="Rffaade68925140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9e0c53c0b341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43f7a3e9004414" /><Relationship Type="http://schemas.openxmlformats.org/officeDocument/2006/relationships/notesMaster" Target="/ppt/notesMasters/notesMaster1.xml" Id="R5bfdab2bc093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df004238b14b3b" /><Relationship Type="http://schemas.openxmlformats.org/officeDocument/2006/relationships/notesMaster" Target="/ppt/notesMasters/notesMaster1.xml" Id="R92cc08f83bbd4f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8e59094dfe4692" /><Relationship Type="http://schemas.openxmlformats.org/officeDocument/2006/relationships/notesMaster" Target="/ppt/notesMasters/notesMaster1.xml" Id="R54183058734b4e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deefad32d3472e" /><Relationship Type="http://schemas.openxmlformats.org/officeDocument/2006/relationships/notesMaster" Target="/ppt/notesMasters/notesMaster1.xml" Id="R9879292b431d47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1eff4e9e744d67" /><Relationship Type="http://schemas.openxmlformats.org/officeDocument/2006/relationships/notesMaster" Target="/ppt/notesMasters/notesMaster1.xml" Id="R3a33dd675a0c4f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cc3f1debd74714" /><Relationship Type="http://schemas.openxmlformats.org/officeDocument/2006/relationships/notesMaster" Target="/ppt/notesMasters/notesMaster1.xml" Id="Rad517df0fde64a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22dc439afb437c" /><Relationship Type="http://schemas.openxmlformats.org/officeDocument/2006/relationships/notesMaster" Target="/ppt/notesMasters/notesMaster1.xml" Id="R1082494c194c40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e9e96627ff429b" /><Relationship Type="http://schemas.openxmlformats.org/officeDocument/2006/relationships/notesMaster" Target="/ppt/notesMasters/notesMaster1.xml" Id="Ra3e09392000f46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6abdb537534d33" /><Relationship Type="http://schemas.openxmlformats.org/officeDocument/2006/relationships/notesMaster" Target="/ppt/notesMasters/notesMaster1.xml" Id="R3cf5888e86fa4e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03aec0a3a449cb" /><Relationship Type="http://schemas.openxmlformats.org/officeDocument/2006/relationships/notesMaster" Target="/ppt/notesMasters/notesMaster1.xml" Id="R85e4349b305b4c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f863db5bbc4693" /><Relationship Type="http://schemas.openxmlformats.org/officeDocument/2006/relationships/notesMaster" Target="/ppt/notesMasters/notesMaster1.xml" Id="Rd9c0fc32705248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c4bb164b744ec4" /><Relationship Type="http://schemas.openxmlformats.org/officeDocument/2006/relationships/notesMaster" Target="/ppt/notesMasters/notesMaster1.xml" Id="Rc6375da1777c4e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dd4aecfe0e4884" /><Relationship Type="http://schemas.openxmlformats.org/officeDocument/2006/relationships/notesMaster" Target="/ppt/notesMasters/notesMaster1.xml" Id="R4748d238b8d74e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598e37379c4096" /><Relationship Type="http://schemas.openxmlformats.org/officeDocument/2006/relationships/notesMaster" Target="/ppt/notesMasters/notesMaster1.xml" Id="R4adf26e12c1a42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71293a9a6c4e06" /><Relationship Type="http://schemas.openxmlformats.org/officeDocument/2006/relationships/notesMaster" Target="/ppt/notesMasters/notesMaster1.xml" Id="Racaf76a13d714b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a4b033444e4a4d" /><Relationship Type="http://schemas.openxmlformats.org/officeDocument/2006/relationships/notesMaster" Target="/ppt/notesMasters/notesMaster1.xml" Id="R9773d6ac2125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>该架构为建议设计，不是当前部署架构。规则验证优先覆盖可执行事实。Judge 可插拔；文本与视觉评估器分别校准。业务结果由外部环境与独立人工标注确认。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配对比较以独立任务为统计单位；采用 bootstrap 或适当的配对检验。重复同一轨迹用于测稳定性，不扩大泛化样本量。上线前保留不确定 / 拒判通道；覆盖率为能自动判断的样本占比。阈值在校准集制定，在留出集冻结。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>候选与裁判不能共同调优同一留出集。优化器看开发反馈；发布时独立验证锁定留出任务。留出集失败只允许拒绝或新版本重新验收，不能直接针对留出答案继续训练。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公开资料（核对日期 2026-10-12）：</a:t>
            </a:r>
          </a:p>
          <a:p xmlns:a="http://schemas.openxmlformats.org/drawingml/2006/main">
            <a:r>
              <a:t>https://docs.typesafe.ai/api</a:t>
            </a:r>
          </a:p>
          <a:p xmlns:a="http://schemas.openxmlformats.org/drawingml/2006/main">
            <a:r>
              <a:t>https://docs.typesafe.ai/models</a:t>
            </a:r>
          </a:p>
          <a:p xmlns:a="http://schemas.openxmlformats.org/drawingml/2006/main">
            <a:r>
              <a:t>https://docs.typesafe.ai/model-jaggedness/jev-1.13</a:t>
            </a:r>
          </a:p>
          <a:p xmlns:a="http://schemas.openxmlformats.org/drawingml/2006/main">
            <a:r>
              <a:t>依据 API 类型说明与当前模型限制整理。Noul 没有独立 confidence 字段，Score / Choice 的 confidence 从分布计算。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公开资料（核对日期 2026-10-12）：</a:t>
            </a:r>
          </a:p>
          <a:p xmlns:a="http://schemas.openxmlformats.org/drawingml/2006/main">
            <a:r>
              <a:t>https://typesafe.ai/blog/introducing-system-one-models-and-jev</a:t>
            </a:r>
          </a:p>
          <a:p xmlns:a="http://schemas.openxmlformats.org/drawingml/2006/main">
            <a:r>
              <a:t>https://huggingface.co/prometheus-eval/prometheus-7b-v2.0</a:t>
            </a:r>
          </a:p>
          <a:p xmlns:a="http://schemas.openxmlformats.org/drawingml/2006/main">
            <a:r>
              <a:t>TypeSafe 公开介绍新架构、并行采样及 RLCD，但本稿不据此推断其参数规模或精确可复现的训练方案。Prometheus 提供可获取的评估模型路线参考。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公开资料（核对日期 2026-10-12）：</a:t>
            </a:r>
          </a:p>
          <a:p xmlns:a="http://schemas.openxmlformats.org/drawingml/2006/main">
            <a:r>
              <a:t>https://huggingface.co/prometheus-eval/prometheus-7b-v2.0</a:t>
            </a:r>
          </a:p>
          <a:p xmlns:a="http://schemas.openxmlformats.org/drawingml/2006/main">
            <a:r>
              <a:t>3B–7B 为建议实验范围，并非已有模型性能或硬件预算承诺。自建模型的成本要包含训练、部署、运维和标注。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公开资料（核对日期 2026-10-12）：</a:t>
            </a:r>
          </a:p>
          <a:p xmlns:a="http://schemas.openxmlformats.org/drawingml/2006/main">
            <a:r>
              <a:t>https://arxiv.org/abs/2312.17090</a:t>
            </a:r>
          </a:p>
          <a:p xmlns:a="http://schemas.openxmlformats.org/drawingml/2006/main">
            <a:r>
              <a:t>https://huggingface.co/Qwen/Qwen-Image-Bench</a:t>
            </a:r>
          </a:p>
          <a:p xmlns:a="http://schemas.openxmlformats.org/drawingml/2006/main">
            <a:r>
              <a:t>通用视觉质量、美观度或文图一致性不自动等同换装业务成功。相关模型作为候选参考，不承诺本项目效果。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成本公式：每任务可变成本 = 小模型评估成本 + 升级比例×强模型 / 人工成本 + 生成重试成本；月利润需再扣固定部署、训练摊销、标注、运维和销售成本。TypeSafe 的托管输入 Token 价格不能直接推断本地小模型的总成本。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背景来源：2026-10-10 钉钉会议纪要、原 10 页 PPT，以及用户提供的 RSI 图解 MHTML。会议提出内部评估后台、图片优先、AutoDev 联动、TokenHub API 服务化、预计三个月推进。除明确标注的会议方向外，本稿均为截至 2026-10-12 的方案建议，尚无本项目实施结果、客户收入或模型性能验证。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公开资料（核对日期 2026-10-12）：</a:t>
            </a:r>
          </a:p>
          <a:p xmlns:a="http://schemas.openxmlformats.org/drawingml/2006/main">
            <a:r>
              <a:t>https://www.langchain.com/blog/jev-agent-evals-langsmith</a:t>
            </a:r>
          </a:p>
          <a:p xmlns:a="http://schemas.openxmlformats.org/drawingml/2006/main">
            <a:r>
              <a:t>https://docs.typesafe.ai/api</a:t>
            </a:r>
          </a:p>
          <a:p xmlns:a="http://schemas.openxmlformats.org/drawingml/2006/main">
            <a:r>
              <a:t>https://docs.typesafe.ai/models</a:t>
            </a:r>
          </a:p>
          <a:p xmlns:a="http://schemas.openxmlformats.org/drawingml/2006/main">
            <a:r>
              <a:t>https://docs.typesafe.ai/model-jaggedness/jev-1.13</a:t>
            </a:r>
          </a:p>
          <a:p xmlns:a="http://schemas.openxmlformats.org/drawingml/2006/main">
            <a:r>
              <a:t>https://huggingface.co/prometheus-eval/prometheus-7b-v2.0</a:t>
            </a:r>
          </a:p>
          <a:p xmlns:a="http://schemas.openxmlformats.org/drawingml/2006/main">
            <a:r>
              <a:t>https://arxiv.org/abs/2312.17090</a:t>
            </a:r>
          </a:p>
          <a:p xmlns:a="http://schemas.openxmlformats.org/drawingml/2006/main">
            <a:r>
              <a:t>https://huggingface.co/Qwen/Qwen-Image-Bench</a:t>
            </a:r>
          </a:p>
          <a:p xmlns:a="http://schemas.openxmlformats.org/drawingml/2006/main">
            <a:r>
              <a:t>LangChain 案例的500次是5条独立固定轨迹重复100次，不能作为500个独立任务来估计泛化。完整来源链接已置于各页讲者备注。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4afc049ab48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4b1b6353f48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c5848b26343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8706eb2c443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db38a964845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204df428343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193341-26CB-49BA-B457-86E19DB55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A413E4-8AF6-4B1E-8A0C-AE53CCC256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B08F9D-4A59-4603-AD84-F3B6E5E1C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1FFC1-A67F-4CDA-8DBD-C5B17AE8DC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49FB88-C47A-45C1-BE48-69C4160110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E03ACD-6773-4F28-B232-7A7E8170C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2D8452-E737-41A2-AA05-6E11710395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5C2E7A-ACB8-45C5-825C-7823D01445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80A57B-B97C-4ECC-9489-D33AA8CC1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28422F-240B-49A5-99D3-B41C982382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2427d559db4b6d" /><Relationship Type="http://schemas.openxmlformats.org/officeDocument/2006/relationships/slideLayout" Target="/ppt/slideLayouts/slideLayout1.xml" Id="R512635eb07a64489" /><Relationship Type="http://schemas.openxmlformats.org/officeDocument/2006/relationships/slideLayout" Target="/ppt/slideLayouts/slideLayout2.xml" Id="R480b6deb984d4099" /><Relationship Type="http://schemas.openxmlformats.org/officeDocument/2006/relationships/slideLayout" Target="/ppt/slideLayouts/slideLayout3.xml" Id="R83c268367baf4b00" /><Relationship Type="http://schemas.openxmlformats.org/officeDocument/2006/relationships/slideLayout" Target="/ppt/slideLayouts/slideLayout4.xml" Id="R6fdaae06e7b74874" /><Relationship Type="http://schemas.openxmlformats.org/officeDocument/2006/relationships/slideLayout" Target="/ppt/slideLayouts/slideLayout5.xml" Id="R1c5c221e816a4e78" /><Relationship Type="http://schemas.openxmlformats.org/officeDocument/2006/relationships/slideLayout" Target="/ppt/slideLayouts/slideLayout6.xml" Id="Rf178c4328f55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2635eb07a64489"/>
    <p:sldLayoutId xmlns:r="http://schemas.openxmlformats.org/officeDocument/2006/relationships" id="2147483650" r:id="R480b6deb984d4099"/>
    <p:sldLayoutId xmlns:r="http://schemas.openxmlformats.org/officeDocument/2006/relationships" id="2147483651" r:id="R83c268367baf4b00"/>
    <p:sldLayoutId xmlns:r="http://schemas.openxmlformats.org/officeDocument/2006/relationships" id="2147483652" r:id="R6fdaae06e7b74874"/>
    <p:sldLayoutId xmlns:r="http://schemas.openxmlformats.org/officeDocument/2006/relationships" id="2147483653" r:id="R1c5c221e816a4e78"/>
    <p:sldLayoutId xmlns:r="http://schemas.openxmlformats.org/officeDocument/2006/relationships" id="2147483654" r:id="Rf178c4328f55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9508015c24f2b" /><Relationship Type="http://schemas.openxmlformats.org/officeDocument/2006/relationships/notesSlide" Target="/ppt/notesSlides/notesSlide1.xml" Id="R56857ee3952f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429531a6b4be8" /><Relationship Type="http://schemas.openxmlformats.org/officeDocument/2006/relationships/notesSlide" Target="/ppt/notesSlides/notesSlide2.xml" Id="R32424c1aa4284a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b573fc0944d29" /><Relationship Type="http://schemas.openxmlformats.org/officeDocument/2006/relationships/notesSlide" Target="/ppt/notesSlides/notesSlide3.xml" Id="Rbcf5e5bd08dd4d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6a5982fb10461f" /><Relationship Type="http://schemas.openxmlformats.org/officeDocument/2006/relationships/notesSlide" Target="/ppt/notesSlides/notesSlide4.xml" Id="Rd4ffaae80a4d4b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30759997c4381" /><Relationship Type="http://schemas.openxmlformats.org/officeDocument/2006/relationships/notesSlide" Target="/ppt/notesSlides/notesSlide5.xml" Id="Rc2c1fd10cfc140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70bbf31834701" /><Relationship Type="http://schemas.openxmlformats.org/officeDocument/2006/relationships/notesSlide" Target="/ppt/notesSlides/notesSlide6.xml" Id="R533f9076e7c0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2fc296ba944a6" /><Relationship Type="http://schemas.openxmlformats.org/officeDocument/2006/relationships/notesSlide" Target="/ppt/notesSlides/notesSlide7.xml" Id="R5ff43115777346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4f2661980456b" /><Relationship Type="http://schemas.openxmlformats.org/officeDocument/2006/relationships/notesSlide" Target="/ppt/notesSlides/notesSlide8.xml" Id="R92242598209a4b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0ec658040464d" /><Relationship Type="http://schemas.openxmlformats.org/officeDocument/2006/relationships/notesSlide" Target="/ppt/notesSlides/notesSlide9.xml" Id="R9ff68a2bc65e40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3ea35819e4132" /><Relationship Type="http://schemas.openxmlformats.org/officeDocument/2006/relationships/notesSlide" Target="/ppt/notesSlides/notesSlide10.xml" Id="Rc6538111086a41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6a1dc77044b27" /><Relationship Type="http://schemas.openxmlformats.org/officeDocument/2006/relationships/notesSlide" Target="/ppt/notesSlides/notesSlide11.xml" Id="R29e99cc638604e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2b1fe9e454904" /><Relationship Type="http://schemas.openxmlformats.org/officeDocument/2006/relationships/notesSlide" Target="/ppt/notesSlides/notesSlide12.xml" Id="R802f72594ae147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21da6f5d34d2e" /><Relationship Type="http://schemas.openxmlformats.org/officeDocument/2006/relationships/notesSlide" Target="/ppt/notesSlides/notesSlide13.xml" Id="R99d8f14d371e47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c6ad3db48428b" /><Relationship Type="http://schemas.openxmlformats.org/officeDocument/2006/relationships/notesSlide" Target="/ppt/notesSlides/notesSlide14.xml" Id="R2cda891edda94f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ab7a8b7513470a" /><Relationship Type="http://schemas.openxmlformats.org/officeDocument/2006/relationships/notesSlide" Target="/ppt/notesSlides/notesSlide15.xml" Id="R51e87b33bb1948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03e9c2c594e54" /><Relationship Type="http://schemas.openxmlformats.org/officeDocument/2006/relationships/notesSlide" Target="/ppt/notesSlides/notesSlide16.xml" Id="Rdba1c1e108954f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3E9B5-8FC3-499E-80CE-C759B783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管理层汇报  /  2026.10.12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D812D-84E7-47EF-8B2C-D97192E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评估与 RSI 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38414-C7D5-4DB8-B353-A5E24895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B169E-29F1-44EE-B4B3-121B7D69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7632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让每次改进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都有依据、有版本、可复用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B0BE0-AEF9-4A16-A42C-E8276A6E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内部评估平台、小评估模型与商业试点方案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CBB2B-CEC1-40D6-8994-86425A6E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基于 10 月 10 日会议方向与补充研究整理。本稿为立项建议。</a:t>
            </a:r>
          </a:p>
        </p:txBody>
      </p:sp>
    </p:spTree>
    <p:extLst>
      <p:ext uri="{BB962C8B-B14F-4D97-AF65-F5344CB8AC3E}">
        <p14:creationId xmlns:p14="http://schemas.microsoft.com/office/powerpoint/2010/main" val="979209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5F8B4-989D-48D6-B02E-774D5ADC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汇报结论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CC2F5-A2C5-4B1F-8446-196655FE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建议从一个可验证的业务问题开始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90028-7893-4285-A221-17D8EB3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98555-C266-48E9-B1A7-D1F6637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先建立评估平台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044C3-8B70-49C1-94A5-82BC6E72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4312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把“哪里变好了”变成可比较、可重放的证据。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159BC-448F-4228-92E7-321CED67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再训练小评估模型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0AD7C-6DE4-40A9-90DF-FC2CAEEA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先服务固定任务，质量达标后再降低成本与时延。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2AC64-2259-45C6-B07A-768A84AF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选择图片试点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49DDC-69FD-4A9F-995B-00C1C86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0057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验证换装结果的可用率、返工成本和客户付费意愿。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E3F78-BCCF-44E9-9435-FD893538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会议方向：图片优先、AutoDev 联动、TokenHub 服务化。试点对象和目标值需立项确认。</a:t>
            </a:r>
          </a:p>
        </p:txBody>
      </p:sp>
    </p:spTree>
    <p:extLst>
      <p:ext uri="{BB962C8B-B14F-4D97-AF65-F5344CB8AC3E}">
        <p14:creationId xmlns:p14="http://schemas.microsoft.com/office/powerpoint/2010/main" val="1664429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1070E-18ED-4A91-9CE7-2512BA42B31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86825" y="50911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3889B-A6F7-4B8A-A281-5AF876A7B053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477500" y="3686175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A456F-6E0A-4491-A5D0-73E23B6368E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57913" y="3686175"/>
            <a:ext cx="14287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230A7-36FD-4DD1-B774-95F6F334DA7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595813" y="3686175"/>
            <a:ext cx="156210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C36F7-650E-4BA1-A872-5299D31E668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86825" y="296703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C9374-C494-4B4E-8446-9838FA60783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62625" y="29670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2F8A0-7770-4EBC-956B-FFE17FC4CFD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95600" y="296703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F93237-9CFA-4526-8BF5-AECC05D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共用底座，分开验证不同任务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DB266-927C-469F-8075-4F101600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CAAAD-5203-4969-81EE-9B9025A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data-registry">
            <a:extLst xmlns:a="http://schemas.openxmlformats.org/drawingml/2006/main">
              <a:ext uri="{FF2B5EF4-FFF2-40B4-BE49-F238E27FC236}">
                <a16:creationId xmlns:a16="http://schemas.microsoft.com/office/drawing/2014/main" id="{E8E7971D-96FA-4EF4-AC38-A535C61F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2860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08938-6135-456E-BED3-CADD598E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任务与标准库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66CC9-E628-4EB3-93D1-BD9234D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样本、标签、Rubric</a:t>
            </a:r>
          </a:p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开发集与锁定留出集</a:t>
            </a:r>
          </a:p>
        </p:txBody>
      </p:sp>
      <p:sp>
        <p:nvSpPr>
          <p:cNvPr id="7" name="runner">
            <a:extLst xmlns:a="http://schemas.openxmlformats.org/drawingml/2006/main">
              <a:ext uri="{FF2B5EF4-FFF2-40B4-BE49-F238E27FC236}">
                <a16:creationId xmlns:a16="http://schemas.microsoft.com/office/drawing/2014/main" id="{3A99D738-C8CC-46AD-AFC2-F2F50ED7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333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30E5F-8DDE-4B03-B3A1-709352BD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9825"/>
            <a:ext cx="19907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执行与重放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5AC93-742B-4640-9F72-762C071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19907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Agent / 图片 / 模型</a:t>
            </a:r>
          </a:p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固定配置与环境</a:t>
            </a:r>
          </a:p>
        </p:txBody>
      </p:sp>
      <p:sp>
        <p:nvSpPr>
          <p:cNvPr id="10" name="judge-router">
            <a:extLst xmlns:a="http://schemas.openxmlformats.org/drawingml/2006/main">
              <a:ext uri="{FF2B5EF4-FFF2-40B4-BE49-F238E27FC236}">
                <a16:creationId xmlns:a16="http://schemas.microsoft.com/office/drawing/2014/main" id="{568561BC-92D4-46CD-8776-50FDB27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6003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45A9D-EA06-44D8-B311-F57E8951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2257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分层评估器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B6806-0A07-4276-880F-F7594CA2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2257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规则与执行测试</a:t>
            </a:r>
          </a:p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文本裁判与视觉裁判</a:t>
            </a:r>
          </a:p>
        </p:txBody>
      </p:sp>
      <p:sp>
        <p:nvSpPr>
          <p:cNvPr id="13" name="human-review">
            <a:extLst xmlns:a="http://schemas.openxmlformats.org/drawingml/2006/main">
              <a:ext uri="{FF2B5EF4-FFF2-40B4-BE49-F238E27FC236}">
                <a16:creationId xmlns:a16="http://schemas.microsoft.com/office/drawing/2014/main" id="{52F856D3-481D-4C65-A51C-2D1B5716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47900"/>
            <a:ext cx="2190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E6017-AC67-4DBB-87E7-4BF8E77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09825"/>
            <a:ext cx="1847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68EC5-1F22-4664-BCB4-2CBD5E5A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57500"/>
            <a:ext cx="1847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低置信与疑难样本</a:t>
            </a:r>
          </a:p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盲评与随机抽检</a:t>
            </a:r>
          </a:p>
        </p:txBody>
      </p:sp>
      <p:sp>
        <p:nvSpPr>
          <p:cNvPr id="19" name="evidence-store">
            <a:extLst xmlns:a="http://schemas.openxmlformats.org/drawingml/2006/main">
              <a:ext uri="{FF2B5EF4-FFF2-40B4-BE49-F238E27FC236}">
                <a16:creationId xmlns:a16="http://schemas.microsoft.com/office/drawing/2014/main" id="{85335077-5F0A-4098-8835-5CECFC81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54578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C70ED-940A-48A1-86E2-F2A5D0B8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5114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证据与版本库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9A07C-9C17-4143-91C8-B8258900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33975"/>
            <a:ext cx="5114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轨迹、产物、错误类别、成本、模型与数据版本</a:t>
            </a:r>
          </a:p>
        </p:txBody>
      </p:sp>
      <p:sp>
        <p:nvSpPr>
          <p:cNvPr id="22" name="release-gate">
            <a:extLst xmlns:a="http://schemas.openxmlformats.org/drawingml/2006/main">
              <a:ext uri="{FF2B5EF4-FFF2-40B4-BE49-F238E27FC236}">
                <a16:creationId xmlns:a16="http://schemas.microsoft.com/office/drawing/2014/main" id="{2D54E527-A899-4042-8C3E-0204E16C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24375"/>
            <a:ext cx="21907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3E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0BA3E-D6AA-43AC-A52A-B16B5F2B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686300"/>
            <a:ext cx="1847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验收与发布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394EA-45E5-4C7D-BEB5-08E95382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133975"/>
            <a:ext cx="1847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质量门槛与灰度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10469E-368A-4A72-849F-E6E96B19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输出应同时包含判定、证据、版本和不确定状态。发布权限由策略服务控制。</a:t>
            </a:r>
          </a:p>
        </p:txBody>
      </p:sp>
    </p:spTree>
    <p:extLst>
      <p:ext uri="{BB962C8B-B14F-4D97-AF65-F5344CB8AC3E}">
        <p14:creationId xmlns:p14="http://schemas.microsoft.com/office/powerpoint/2010/main" val="83077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978E1-0B5B-434C-AA29-18DC516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评估回答“表现如何”，验证回答“证据是否支持”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B8A5D-FF55-4E13-961C-1999D93F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评估体系先统一任务、标准和数据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7E6F0-F848-49B4-8435-A6D56C04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9EA5C-C4D1-4B2F-8056-759877C42C85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43425"/>
                <a:gridCol w="4429125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具体做法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必须留下的证据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定义任务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将“效果好”拆成可检查的条件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输入、标准答案或评分细则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建立样本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真实成功案例、失败案例与边界案例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标签来源、双人复核与分歧记录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隔离数据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开发、校准、锁定留出和线上样本分开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客户 / 时间 / 模板分组及去重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同条件比较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基线与候选使用相同任务和资源预算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任务清单哈希、环境与配置快照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044E1-6DC9-48E5-AF6C-71D0D9C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超时、上游错误和证据不足单独统计，禁止直接当作模型失败或成功。</a:t>
            </a:r>
          </a:p>
        </p:txBody>
      </p:sp>
    </p:spTree>
    <p:extLst>
      <p:ext uri="{BB962C8B-B14F-4D97-AF65-F5344CB8AC3E}">
        <p14:creationId xmlns:p14="http://schemas.microsoft.com/office/powerpoint/2010/main" val="290545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FC640-C4EF-4896-832B-0EB9BD1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裁判对齐与发布门槛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BABF-C8D2-4CC9-950A-49C9F82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评估模型也必须接受验证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88367-A415-4C42-AD92-7F91810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8CCF6-13E0-4CFA-9C78-8780289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判断正确吗？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87222-8A8C-445F-8437-C4A47733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与独立人工标签比较，优先看误放行率、漏检率和分组表现。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4A8AB-1307-4BCF-8017-4AED70AF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概率可信吗？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61BDD-B2E7-41C9-B3D5-0E54DF9C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用独立校准集检查概率与真实频率，报告 Brier / ECE 和覆盖率。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67B9C-5D4F-4D5E-B572-36609C8C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改进可推广吗？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7A5A3-3CD9-4505-AE32-A7B9DA6A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在锁定留出集上做配对比较，报告收益区间与成本、P95 时延。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F9C51-AB7E-4A3F-B081-F25CACF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阈值按业务错误成本预先确定。重复一致性、Schema 合法性不能替代语义正确性。</a:t>
            </a:r>
          </a:p>
        </p:txBody>
      </p:sp>
    </p:spTree>
    <p:extLst>
      <p:ext uri="{BB962C8B-B14F-4D97-AF65-F5344CB8AC3E}">
        <p14:creationId xmlns:p14="http://schemas.microsoft.com/office/powerpoint/2010/main" val="592310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20E60-3E57-4EB2-8A39-B5656223D499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5953125" y="54673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5187C1-88AF-4D41-958A-355075516CB9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085975" y="34861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DE14F7-8EEA-4533-8E4E-2C704EE3CB8F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562350" y="48053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022E3-F8C2-4C2E-B13D-F03891756560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429500" y="4805363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12D43-A1BD-418E-8C65-7BBE49E85CE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915525" y="34861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DD5CC-3073-4D85-9589-BB53A98F3C5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2824163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4BD0C-A954-4424-83BC-CC4CCA447AC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62350" y="28241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B61541-7C48-491A-888A-291C315C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方案建议  /  验证后的新状态成为下一轮起点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BEDB2-C93F-4D26-A1BE-8DF99DDB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RSI 闭环流程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A6975-32EE-4880-8996-683B8B98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638DE9C8-7B9A-4940-AE3E-3DDB4A7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952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A76DD-5297-449B-B8A1-3530BC43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  加载已接受状态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05A55-B48A-404F-A3A8-4CB4F599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Prompt / Skill / 工作流版本</a:t>
            </a:r>
          </a:p>
        </p:txBody>
      </p:sp>
      <p:sp>
        <p:nvSpPr>
          <p:cNvPr id="7" name="candidate">
            <a:extLst xmlns:a="http://schemas.openxmlformats.org/drawingml/2006/main">
              <a:ext uri="{FF2B5EF4-FFF2-40B4-BE49-F238E27FC236}">
                <a16:creationId xmlns:a16="http://schemas.microsoft.com/office/drawing/2014/main" id="{2D13DEFA-35B4-4B8D-916C-EFF3568D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2175"/>
            <a:ext cx="2952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4696D-B75D-4D9F-97C9-27BB1C0A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  提出候选改动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F3780-8FDB-459F-996A-D33439BE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71775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记录差异与预期收益</a:t>
            </a:r>
          </a:p>
        </p:txBody>
      </p:sp>
      <p:sp>
        <p:nvSpPr>
          <p:cNvPr id="10" name="replay">
            <a:extLst xmlns:a="http://schemas.openxmlformats.org/drawingml/2006/main">
              <a:ext uri="{FF2B5EF4-FFF2-40B4-BE49-F238E27FC236}">
                <a16:creationId xmlns:a16="http://schemas.microsoft.com/office/drawing/2014/main" id="{C0DD6896-BDA4-436A-99BB-7EEBEF47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62175"/>
            <a:ext cx="2952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83905-704B-45F7-88F5-BD08BC3B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  同条件执行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B22DB-1869-4AEF-8D31-C976B70F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71775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开发集重放并收集证据</a:t>
            </a:r>
          </a:p>
        </p:txBody>
      </p:sp>
      <p:sp>
        <p:nvSpPr>
          <p:cNvPr id="13" name="validate">
            <a:extLst xmlns:a="http://schemas.openxmlformats.org/drawingml/2006/main">
              <a:ext uri="{FF2B5EF4-FFF2-40B4-BE49-F238E27FC236}">
                <a16:creationId xmlns:a16="http://schemas.microsoft.com/office/drawing/2014/main" id="{1F34E69B-6832-43FB-AA8B-8595AC2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43375"/>
            <a:ext cx="2952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794C0-B157-4F6F-AF76-D8AEF1D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  独立验证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EE08A-C236-48F4-8899-E8289C7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52975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留出任务、人工复核与成本</a:t>
            </a:r>
          </a:p>
        </p:txBody>
      </p:sp>
      <p:sp>
        <p:nvSpPr>
          <p:cNvPr id="16" name="accept">
            <a:extLst xmlns:a="http://schemas.openxmlformats.org/drawingml/2006/main">
              <a:ext uri="{FF2B5EF4-FFF2-40B4-BE49-F238E27FC236}">
                <a16:creationId xmlns:a16="http://schemas.microsoft.com/office/drawing/2014/main" id="{F38E1C7B-12CC-4553-97B2-BD72C889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2952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32901-72D1-4E7E-81F0-CB8510A8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  决定是否接受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226FB-B907-45EA-9891-47564CF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52975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质量门槛、作用范围与权限</a:t>
            </a:r>
          </a:p>
        </p:txBody>
      </p:sp>
      <p:sp>
        <p:nvSpPr>
          <p:cNvPr id="19" name="inherit">
            <a:extLst xmlns:a="http://schemas.openxmlformats.org/drawingml/2006/main">
              <a:ext uri="{FF2B5EF4-FFF2-40B4-BE49-F238E27FC236}">
                <a16:creationId xmlns:a16="http://schemas.microsoft.com/office/drawing/2014/main" id="{7BCA2F31-1610-4940-9E92-BF171077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952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6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1B2DA-1D53-44AA-A909-00C89893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  保存并继承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D876B-1327-48D9-B793-188771BB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260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灰度发布、加载核对与回滚</a:t>
            </a:r>
          </a:p>
        </p:txBody>
      </p:sp>
      <p:sp>
        <p:nvSpPr>
          <p:cNvPr id="28" name="rejected-candidate">
            <a:extLst xmlns:a="http://schemas.openxmlformats.org/drawingml/2006/main">
              <a:ext uri="{FF2B5EF4-FFF2-40B4-BE49-F238E27FC236}">
                <a16:creationId xmlns:a16="http://schemas.microsoft.com/office/drawing/2014/main" id="{EE73F8A3-2F96-458D-A650-F827F224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0072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D69C5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0F729-35A4-4F82-8074-570CA32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245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未通过：保留旧版本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28CB35-0612-4F82-B743-10FD1C62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52950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通过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024870-4A3B-4689-815D-00D26177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灰度退化时回滚</a:t>
            </a:r>
          </a:p>
          <a:p xmlns:a="http://schemas.openxmlformats.org/drawingml/2006/main">
            <a:pPr algn="l">
              <a:defRPr sz="157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下一轮核对加载版本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40B46-B05A-4B26-89CE-6C546B2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9055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拒绝后修订候选，重新验证</a:t>
            </a:r>
          </a:p>
        </p:txBody>
      </p:sp>
    </p:spTree>
    <p:extLst>
      <p:ext uri="{BB962C8B-B14F-4D97-AF65-F5344CB8AC3E}">
        <p14:creationId xmlns:p14="http://schemas.microsoft.com/office/powerpoint/2010/main" val="365736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96459-679B-4BC2-BE6E-1131174F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公开资料  /  TypeSafe AI System 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6184A-1811-4A4C-B0C8-85F19E9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Jev 的价值在于类型化判断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285FE-84BB-4F2F-B8D8-F53AECEF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6E27A-6C75-4025-93D9-428CE1361D1B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2962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857625"/>
                <a:gridCol w="4829175"/>
              </a:tblGrid>
              <a:tr h="7405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输出方式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含义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评估中的使用方式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Noul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 / 否的概率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答案是否得到证据支持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Choice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选项及概率分布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通过、需复核或失败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Score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等级分布与加权评分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按明确 Rubric 评估质量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7B10A-BAC6-469D-AB8F-C29D8DF3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当前限制：只接受文本；中文能力、对抗输入与复杂推理需单独验证。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05F38-8DEA-44F0-8540-1EAAC17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类型合法仍可能判断错误。Jev 是决策模型，公开资料不能支持将其简单定义为小参数模型。</a:t>
            </a:r>
          </a:p>
        </p:txBody>
      </p:sp>
    </p:spTree>
    <p:extLst>
      <p:ext uri="{BB962C8B-B14F-4D97-AF65-F5344CB8AC3E}">
        <p14:creationId xmlns:p14="http://schemas.microsoft.com/office/powerpoint/2010/main" val="14439180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37A3A-24C1-4AF8-8803-AA004821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可行性判断  /  建议定位为中文垂直判断服务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DEDF6-2F05-4835-BF7B-CB4A5515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可以做专用评估模型，先明确能力边界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5E104-D11E-49F0-9FB9-D5B9F46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DE8CA-19ED-4F3F-A30E-1198C46261EA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953000"/>
                <a:gridCol w="3924300"/>
              </a:tblGrid>
              <a:tr h="72771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我们可以做什么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验收依据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接口与产品形态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输入任务和 Rubric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输出标签、分数、概率及版本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结构合法、可接入、可追踪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固定业务判断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分类器、排序器、奖励模型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稳定维度低成本批量运行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独立标签、校准与错误成本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可变 Rubric 评估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微调小语言模型或视觉模型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验证新任务和新标准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未见任务上的可靠性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Jev 底层等价能力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需独立模型研究与大规模验证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不纳入首期交付承诺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当前资料不足以证明能复现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A0668-7CAF-412F-BF2F-068592A6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关键差异：固定任务的多头分类模型容易产品化，支持任意新 Rubric 的模型难度更高。</a:t>
            </a:r>
          </a:p>
        </p:txBody>
      </p:sp>
    </p:spTree>
    <p:extLst>
      <p:ext uri="{BB962C8B-B14F-4D97-AF65-F5344CB8AC3E}">
        <p14:creationId xmlns:p14="http://schemas.microsoft.com/office/powerpoint/2010/main" val="1815585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AEEA7-ADA2-452A-885A-95A37ED7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先拿到业务标签，再决定训练方式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5C111-764D-4284-9CA0-C5C21990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小评估模型的建设路径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6FC3-2615-4F4F-9248-08E2D6E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BFA1D-91EA-4388-9B5C-2BE14AE2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第一步  建立对照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4F305-DB82-469D-943B-36C496C8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57400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规则、强模型 Judge、Jev 或开源 Judge 在同一批人工标签上比较。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5F3C5-E752-4A5A-B0C5-4C21368E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第二步  做专用模型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45A35-BB7F-4D57-9E29-3DE8133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4802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固定任务用分类 / 排序模型；文本探索 3B–7B 微调，图片使用视觉编码器。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616FE-5560-42E4-ABF1-AF81D1B3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第三步  校准与升级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DAF64-B37F-4165-B51D-B63BE5A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教师标签经人工抽检，独立校准概率，低置信回退，影子运行后逐步放量。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A27B2-C500-496C-9F4A-F2F0ADED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Prometheus 2 的 7B 模型支持绝对评分与两两比较，但主要面向英文文本，需另验中文任务。</a:t>
            </a:r>
          </a:p>
        </p:txBody>
      </p:sp>
    </p:spTree>
    <p:extLst>
      <p:ext uri="{BB962C8B-B14F-4D97-AF65-F5344CB8AC3E}">
        <p14:creationId xmlns:p14="http://schemas.microsoft.com/office/powerpoint/2010/main" val="1091237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7B644-9BDC-432A-AA1F-D039BF43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会议方向与方案建议  /  先验证一个客户流程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53358-A8F0-461D-B22B-5CAFD67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图片试点：评估换装结果是否可交付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D9F18-DE0B-485B-9C1B-59E8132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8E955-35A3-40F9-BD00-0E54D8C6D72C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762500"/>
                <a:gridCol w="3781425"/>
              </a:tblGrid>
              <a:tr h="71247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维度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验证方法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业务动作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服装与主体一致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视觉模型辅助判断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标注颜色、款式和身份变化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异常结果进入人工复核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结构与内容错误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检测器与视觉 Judge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定位遮挡、变形和缺失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拒绝或重新生成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美观与可用性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两两偏好盲评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结合实际采用 / 返工记录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从候选中筛选可交付产物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成本与时延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记录生成次数、耗时和人工时长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优化每张合格图片总成本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413A9-D9CA-402F-9AE1-B2CF0F5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Jev 不直接评图片。Q-Align / Q-Judger 可作为参考评估器，业务标准仍需自己的标签验证。</a:t>
            </a:r>
          </a:p>
        </p:txBody>
      </p:sp>
    </p:spTree>
    <p:extLst>
      <p:ext uri="{BB962C8B-B14F-4D97-AF65-F5344CB8AC3E}">
        <p14:creationId xmlns:p14="http://schemas.microsoft.com/office/powerpoint/2010/main" val="426134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1B2E1-0523-4288-88AD-8B6E169F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顺序依据现有会议方向，待客户验证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54278-4098-43E2-8042-44050607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商业化先卖可衡量的质量改善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78FCF-C77A-41F8-A878-64FB911B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DD91A-990F-47FF-BEC4-8F4F03CA1189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572000"/>
                <a:gridCol w="3590925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客户购买的价值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交付与收费方式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图片生成质检与筛选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优先验证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减少无效生成、返工与人工筛图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质检 API / 工作流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按处理量或包量收费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 Agent 质量管理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近期候选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发布前回归、线上抽检和问题定位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评估平台订阅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任务包与私有部署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中文垂直判断 API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模型达标后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RAG 证据校验、工单分流与内容分类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 TokenHub 调用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按调用量与 SLA 收费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决策引擎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后续探索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高频业务中更快、更稳的判断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行业项目与许可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先离线验证再受控试点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E9FF0-0630-473C-AD48-7B938699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第一单应选择愿意提供样本和验收标准的客户。通用“自进化平台”的价值需要更多证据。</a:t>
            </a:r>
          </a:p>
        </p:txBody>
      </p:sp>
    </p:spTree>
    <p:extLst>
      <p:ext uri="{BB962C8B-B14F-4D97-AF65-F5344CB8AC3E}">
        <p14:creationId xmlns:p14="http://schemas.microsoft.com/office/powerpoint/2010/main" val="294847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F124-1E31-423A-A3A7-96A9B9C6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方案建议  /  报价依据实测成本和客户收益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6A5FD-B686-4281-BEB6-D14D52BD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付费试点验证单位经济性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81C6E-6FD2-4149-806C-4DC92A84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6457-B8A3-4B50-AC30-44C6CDC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客户收益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A6C1C-0EB0-4F68-AB7E-9D20B825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0502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每张合格图片成本、人工复核时长、返工率是否下降。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EF9D5-E234-45A5-80AD-0DDFA816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我们的成本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5B142-106A-4E38-BFAA-DA9110D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模型推理、生成重试、人工升级、基础设施、训练和运维。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E1D95-B42B-4E27-AB43-6D97C690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定价与范围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803A8-4567-4385-9A13-C7456278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8152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约定处理量、评分维度、覆盖率、回退方式和 SLA，防止无限评估。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465B2-2988-4359-829D-C6A5C97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接入前后需在相同质量门槛下比较。当前没有业务流量、实测成本或可验证收入预测。</a:t>
            </a:r>
          </a:p>
        </p:txBody>
      </p:sp>
    </p:spTree>
    <p:extLst>
      <p:ext uri="{BB962C8B-B14F-4D97-AF65-F5344CB8AC3E}">
        <p14:creationId xmlns:p14="http://schemas.microsoft.com/office/powerpoint/2010/main" val="20712207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75693-48B4-49A2-8A83-76267664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会议预计三个月  /  以下阶段拆分与资源配置为建议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2F599-562F-4FCB-99D1-F1A931D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三个月以证据和交付门槛推进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17FF0-7570-4763-8465-5985D81D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F28BC-9D35-43A4-A002-6A65D5F9EFE7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857750"/>
                <a:gridCol w="3876675"/>
              </a:tblGrid>
              <a:tr h="7643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交付内容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继续投入的条件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1 月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评估底座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任务标准、数据分组、API 后台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基线、重放与 Judge 对齐报告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标签可信、评测可重放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选定首个试点客户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月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模型与联动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专用模型对照实验、概率校准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候选优化与影子评估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质量达标且总成本合理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留出收益有独立证据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月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闭环与试点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版本继承、灰度与回滚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客户流程接入和付费试点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人工复核和返工成本改善</a:t>
                      </a:r>
                    </a:p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客户确认继续采购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5DEA3-9E66-4915-9CA1-DE237629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建议角色：工程负责人、算法负责人、产品 / 客户接口；按需配置领域标注与测试。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050DC-1A11-4FC8-A6C1-1B93321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官网与 TokenHub 维护仍优先。实际人力、GPU、标注预算与周投入需单独确认。</a:t>
            </a:r>
          </a:p>
        </p:txBody>
      </p:sp>
    </p:spTree>
    <p:extLst>
      <p:ext uri="{BB962C8B-B14F-4D97-AF65-F5344CB8AC3E}">
        <p14:creationId xmlns:p14="http://schemas.microsoft.com/office/powerpoint/2010/main" val="17099335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97469-1FBA-4EB5-89A5-44583197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管理层决策建议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AE819-5739-4E97-9190-C9C853A2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立项需要明确四项决定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7A842-6E12-4EFC-A56A-F99228E7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930B7-1CC9-4811-A93C-3D59354D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905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首个问题与客户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7A2DF-F0E9-4763-8C1E-24CA01E2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6692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先选图片质检或具体 Agent 回归任务，明确谁提供数据、谁验收。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65BF4-F722-4257-BF93-F9CD181E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905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错误与质量底线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5425C-12AF-4A98-B2FD-42018E3E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1942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约定误放行、漏检、人工复核比例、成本和时延的可接受范围。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9E908-9363-4921-A282-7F345B4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2905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资源与负责人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656F9-6C53-482E-A26D-B17671D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71925"/>
            <a:ext cx="771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确认工程、算法及客户接口，批准有限的标注和推理实验预算。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AEFD2-8AC5-4BA5-9FDB-F8E7A1E8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阶段停止条件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743E5-E893-41B2-A0D3-186D831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2442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若裁判未对齐、留出收益不足或单位成本不成立，收缩范围再验证。</a:t>
            </a:r>
          </a:p>
        </p:txBody>
      </p:sp>
    </p:spTree>
    <p:extLst>
      <p:ext uri="{BB962C8B-B14F-4D97-AF65-F5344CB8AC3E}">
        <p14:creationId xmlns:p14="http://schemas.microsoft.com/office/powerpoint/2010/main" val="12698812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6BFCE-A3F9-4168-B0AA-AD0686E4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附录  /  便于研发直接转成需求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F200B-70D9-4BB3-A9E0-445CDF58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评估记录与判定契约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01C8D-020A-4DE5-8996-68360EE2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0F030-EEDE-4A68-BC93-FAD6D8AF8BDB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448675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记录层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必要字段或约束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任务与配置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task_id、数据 / Rubric / 模型 / 环境版本、基线和候选快照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过程与结果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原始轨迹与产物引用、维度分数、标签概率、证据位置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失败与不确定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passed / failed / unverified、上游错误、超时与拒判分别记录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资源与发布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调用次数、Token、耗时、费用未知标记、接受 / 拒绝理由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验收报告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误放行率、漏检率、自动覆盖率、校准、配对收益区间与成本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75258-83DD-4A67-B61F-3953C9BC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先冻结任务清单与阈值，保留不可变运行 ID。评估器版本变化后重新验收。</a:t>
            </a:r>
          </a:p>
        </p:txBody>
      </p:sp>
    </p:spTree>
    <p:extLst>
      <p:ext uri="{BB962C8B-B14F-4D97-AF65-F5344CB8AC3E}">
        <p14:creationId xmlns:p14="http://schemas.microsoft.com/office/powerpoint/2010/main" val="2938356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DAD34-0D9B-468D-804D-5B4E21D5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附录  /  公开资料核对至 2026.10.12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D8C99-AB43-4553-91B2-B9FA9005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参考依据与证据边界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02869-E2A2-427A-8AC4-E75920A3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106C5-9EB6-41E8-AFBA-732F7262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内部依据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0E20B-C724-4BA3-B0A7-6C59319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2882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10 月 10 日会议纪要与 RSI 图解：验证有效变化、保存版本并实际继承。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934FD-8321-4A02-AFA7-1E226CF9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Jev 研究案例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0D21C-4AD5-4844-A76D-307CF160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38500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5 条固定轨迹各重复判定 100 次，二元判断与人工标签 500 次一致。泛化仍需另验。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944A4-F36E-4F01-8669-64F196A8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公开实现参考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28024-9B95-4414-9255-6243ADF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48175"/>
            <a:ext cx="771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TypeSafe 官方 API 与限制，Prometheus 2、Q-Align 和 Q-Judger 的论文 / 模型卡。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BE5DE-9D99-4E1C-8A6A-8E9F837D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本稿中的架构、排期、模型路线和商业优先级是建议。未开展本项目训练、实测或客户验证。</a:t>
            </a:r>
          </a:p>
        </p:txBody>
      </p:sp>
    </p:spTree>
    <p:extLst>
      <p:ext uri="{BB962C8B-B14F-4D97-AF65-F5344CB8AC3E}">
        <p14:creationId xmlns:p14="http://schemas.microsoft.com/office/powerpoint/2010/main" val="1353693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2026-10-12T06:33:02.8400000Z</dcterms:created>
  <dcterms:modified xsi:type="dcterms:W3CDTF">2026-10-12T06:33:02.8400000Z</dcterms:modified>
</coreProperties>
</file>