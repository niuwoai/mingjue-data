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d2374c69e441aa" /><Relationship Type="http://schemas.openxmlformats.org/officeDocument/2006/relationships/extended-properties" Target="/docProps/app.xml" Id="R7e394927651b41d0" /><Relationship Type="http://schemas.openxmlformats.org/officeDocument/2006/relationships/officeDocument" Target="/ppt/presentation.xml" Id="Re3d2b4ca449542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94b36f451e4b11"/>
  </p:sldMasterIdLst>
  <p:notesMasterIdLst>
    <p:notesMasterId xmlns:r="http://schemas.openxmlformats.org/officeDocument/2006/relationships" r:id="Raf5cd97c4fe444ce"/>
  </p:notesMasterIdLst>
  <p:sldIdLst>
    <p:sldId xmlns:r="http://schemas.openxmlformats.org/officeDocument/2006/relationships" id="256" r:id="Rb61cd59d11534934"/>
    <p:sldId xmlns:r="http://schemas.openxmlformats.org/officeDocument/2006/relationships" id="257" r:id="R40c9069170474410"/>
    <p:sldId xmlns:r="http://schemas.openxmlformats.org/officeDocument/2006/relationships" id="258" r:id="R2ebeff80232c44cd"/>
    <p:sldId xmlns:r="http://schemas.openxmlformats.org/officeDocument/2006/relationships" id="259" r:id="R519060f5b9bf445a"/>
    <p:sldId xmlns:r="http://schemas.openxmlformats.org/officeDocument/2006/relationships" id="260" r:id="R0f610e601ef94af2"/>
    <p:sldId xmlns:r="http://schemas.openxmlformats.org/officeDocument/2006/relationships" id="261" r:id="R4a80426a53384c37"/>
    <p:sldId xmlns:r="http://schemas.openxmlformats.org/officeDocument/2006/relationships" id="262" r:id="Re3d927db910148ed"/>
    <p:sldId xmlns:r="http://schemas.openxmlformats.org/officeDocument/2006/relationships" id="263" r:id="R76b8665145a04740"/>
    <p:sldId xmlns:r="http://schemas.openxmlformats.org/officeDocument/2006/relationships" id="264" r:id="R83af846b18ed4273"/>
    <p:sldId xmlns:r="http://schemas.openxmlformats.org/officeDocument/2006/relationships" id="265" r:id="R652dd6bd4e2f4d38"/>
    <p:sldId xmlns:r="http://schemas.openxmlformats.org/officeDocument/2006/relationships" id="266" r:id="R1b040517929840fb"/>
    <p:sldId xmlns:r="http://schemas.openxmlformats.org/officeDocument/2006/relationships" id="267" r:id="R1aed7da1a0464a4e"/>
    <p:sldId xmlns:r="http://schemas.openxmlformats.org/officeDocument/2006/relationships" id="268" r:id="Rf26e90d082a24d68"/>
    <p:sldId xmlns:r="http://schemas.openxmlformats.org/officeDocument/2006/relationships" id="269" r:id="Rb62b0006f309448a"/>
    <p:sldId xmlns:r="http://schemas.openxmlformats.org/officeDocument/2006/relationships" id="270" r:id="Ra9f422b50b6a49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f505b92db94cdf" /><Relationship Type="http://schemas.openxmlformats.org/officeDocument/2006/relationships/slideMaster" Target="/ppt/slideMasters/slideMaster1.xml" Id="R9394b36f451e4b11" /><Relationship Type="http://schemas.openxmlformats.org/officeDocument/2006/relationships/notesMaster" Target="/ppt/notesMasters/notesMaster1.xml" Id="Raf5cd97c4fe444ce" /><Relationship Type="http://schemas.openxmlformats.org/officeDocument/2006/relationships/presProps" Target="/ppt/presProps.xml" Id="R52a0e4a8b3304f4f" /><Relationship Type="http://schemas.openxmlformats.org/officeDocument/2006/relationships/tableStyles" Target="/ppt/tableStyles.xml" Id="R7ab513b402524b18" /><Relationship Type="http://schemas.openxmlformats.org/officeDocument/2006/relationships/slide" Target="/ppt/slides/slide1.xml" Id="Rb61cd59d11534934" /><Relationship Type="http://schemas.openxmlformats.org/officeDocument/2006/relationships/slide" Target="/ppt/slides/slide2.xml" Id="R40c9069170474410" /><Relationship Type="http://schemas.openxmlformats.org/officeDocument/2006/relationships/slide" Target="/ppt/slides/slide3.xml" Id="R2ebeff80232c44cd" /><Relationship Type="http://schemas.openxmlformats.org/officeDocument/2006/relationships/slide" Target="/ppt/slides/slide4.xml" Id="R519060f5b9bf445a" /><Relationship Type="http://schemas.openxmlformats.org/officeDocument/2006/relationships/slide" Target="/ppt/slides/slide5.xml" Id="R0f610e601ef94af2" /><Relationship Type="http://schemas.openxmlformats.org/officeDocument/2006/relationships/slide" Target="/ppt/slides/slide6.xml" Id="R4a80426a53384c37" /><Relationship Type="http://schemas.openxmlformats.org/officeDocument/2006/relationships/slide" Target="/ppt/slides/slide7.xml" Id="Re3d927db910148ed" /><Relationship Type="http://schemas.openxmlformats.org/officeDocument/2006/relationships/slide" Target="/ppt/slides/slide8.xml" Id="R76b8665145a04740" /><Relationship Type="http://schemas.openxmlformats.org/officeDocument/2006/relationships/slide" Target="/ppt/slides/slide9.xml" Id="R83af846b18ed4273" /><Relationship Type="http://schemas.openxmlformats.org/officeDocument/2006/relationships/slide" Target="/ppt/slides/slide10.xml" Id="R652dd6bd4e2f4d38" /><Relationship Type="http://schemas.openxmlformats.org/officeDocument/2006/relationships/slide" Target="/ppt/slides/slide11.xml" Id="R1b040517929840fb" /><Relationship Type="http://schemas.openxmlformats.org/officeDocument/2006/relationships/slide" Target="/ppt/slides/slide12.xml" Id="R1aed7da1a0464a4e" /><Relationship Type="http://schemas.openxmlformats.org/officeDocument/2006/relationships/slide" Target="/ppt/slides/slide13.xml" Id="Rf26e90d082a24d68" /><Relationship Type="http://schemas.openxmlformats.org/officeDocument/2006/relationships/slide" Target="/ppt/slides/slide14.xml" Id="Rb62b0006f309448a" /><Relationship Type="http://schemas.openxmlformats.org/officeDocument/2006/relationships/slide" Target="/ppt/slides/slide15.xml" Id="Ra9f422b50b6a49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3da15fdbe74d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0dd48fb2b64ae5" /><Relationship Type="http://schemas.openxmlformats.org/officeDocument/2006/relationships/notesMaster" Target="/ppt/notesMasters/notesMaster1.xml" Id="Rb1ed4116dfaa46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b8a8ffc41c4b16" /><Relationship Type="http://schemas.openxmlformats.org/officeDocument/2006/relationships/notesMaster" Target="/ppt/notesMasters/notesMaster1.xml" Id="R5749dc4585ae4d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fee29a3e2a4224" /><Relationship Type="http://schemas.openxmlformats.org/officeDocument/2006/relationships/notesMaster" Target="/ppt/notesMasters/notesMaster1.xml" Id="R65eee528a38b4f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996dc725924bcc" /><Relationship Type="http://schemas.openxmlformats.org/officeDocument/2006/relationships/notesMaster" Target="/ppt/notesMasters/notesMaster1.xml" Id="R61c8f2eb0e9942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6b5d4f5e884d10" /><Relationship Type="http://schemas.openxmlformats.org/officeDocument/2006/relationships/notesMaster" Target="/ppt/notesMasters/notesMaster1.xml" Id="R9abe4c6c596b46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505fa8d7b94167" /><Relationship Type="http://schemas.openxmlformats.org/officeDocument/2006/relationships/notesMaster" Target="/ppt/notesMasters/notesMaster1.xml" Id="R623fdf5b88ae46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37603b133d4c6f" /><Relationship Type="http://schemas.openxmlformats.org/officeDocument/2006/relationships/notesMaster" Target="/ppt/notesMasters/notesMaster1.xml" Id="Rde75ef9be95147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4f33e74b844e58" /><Relationship Type="http://schemas.openxmlformats.org/officeDocument/2006/relationships/notesMaster" Target="/ppt/notesMasters/notesMaster1.xml" Id="Rb28a43fc16e543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b098d54cf14356" /><Relationship Type="http://schemas.openxmlformats.org/officeDocument/2006/relationships/notesMaster" Target="/ppt/notesMasters/notesMaster1.xml" Id="R6560b4f8a51549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e65a38183744ebd" /><Relationship Type="http://schemas.openxmlformats.org/officeDocument/2006/relationships/notesMaster" Target="/ppt/notesMasters/notesMaster1.xml" Id="R89e85c674bc648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c3a0375fa3443a" /><Relationship Type="http://schemas.openxmlformats.org/officeDocument/2006/relationships/notesMaster" Target="/ppt/notesMasters/notesMaster1.xml" Id="R9a2b14556dc441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3f49037167461e" /><Relationship Type="http://schemas.openxmlformats.org/officeDocument/2006/relationships/notesMaster" Target="/ppt/notesMasters/notesMaster1.xml" Id="R17660600590642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34651b73be04337" /><Relationship Type="http://schemas.openxmlformats.org/officeDocument/2006/relationships/notesMaster" Target="/ppt/notesMasters/notesMaster1.xml" Id="R1af06cd4827b40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9a6f4c87104b36" /><Relationship Type="http://schemas.openxmlformats.org/officeDocument/2006/relationships/notesMaster" Target="/ppt/notesMasters/notesMaster1.xml" Id="R1a162606c6484a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8778909ffaf49ea" /><Relationship Type="http://schemas.openxmlformats.org/officeDocument/2006/relationships/notesMaster" Target="/ppt/notesMasters/notesMaster1.xml" Id="R57cdf60bb5c847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>本稿重构原汇报。会议目标与方案建议分别标识。图片、换装及报表均未作为已定案商业场景。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>07:19“就两个，一个就是在AutoDev上面”。07:24切换底层模型、提示词、skill。07:42自动调用切换参数接口，修改后再评估。07:59针对几B或十几B的小模型和一个业务场景做决策。08:22涉及训练并打通MaaS训练接口。08:34可以长在AutoDev，也可以独立调度。转写中Java/Laya疑为模型名称识别误差，不作为事实引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>17:24人工按特定格式编辑题库。17:55启动、进度、结束与报告API化，先内部管理后台。21:33企业场景不同，21:49用户反馈增量训练并比较版本准确率。22:29三个月左右，22:35首月打分框架。23:22插件形态待沟通。23:45–24:01 TokenHub有需求优先处理。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>执行器区分AutoDev与模型推理。评估器与候选优化器权限分离。评估服务全流程API化。数据、执行、评价与发布留下不可变版本。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>会议07:24–07:42包含模型/提示词/Skill切换。保存、实际加载核对、留出门槛与回滚为结合RSI补充材料的工程建议。留出评估只用于发布，优化器不读取留出答案。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>会议07:59固定业务决策、21:33客户差异化决策引擎。分类、选择、排序和升级是本次建议的任务形态，未在会议中逐项定案。TypeSafe API研究仅支持产品形态参考，不表示复现其训练架构。https://docs.typesafe.ai/api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>建议先做低风险任务路由或升级判断，便于已有AutoDev日志与结果形成标签。IoT/PLC为会议长期方向，需客户真实数据、误动作成本和运行约束，首期不可宣称工业闭环控制已经可用。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>固定标签任务先比较规则、传统分类器与小语言模型微调。Qwen3-4B为可获取开源候选而非性能承诺：https://huggingface.co/Qwen/Qwen3-4B。训练接口需与MaaS团队确认。LoRA/监督微调、温度校准、影子运行均为建议实现。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>数值均为建议目标，不是会议承诺或已有测量。RSI收益按独立任务配对bootstrap估计，资源上限由团队预算确认。Decision覆盖率和错误率必须同时报，拒判不作为正确预测。成本包含升级调用与服务成本。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>22:29项目三个月左右，22:35首月评估框架。后续按月双线拆分、里程碑与目标值为本稿建议，依赖人力和MaaS训练API。实际启动日尚未确定，采用相对月份。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>商业路径来自会议Agent as Model/TokenHub API及企业反馈训练方向，收费方式与试点顺序为建议。没有已验证收入、客户意向或模型性能。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2026-10-10 15:30–16:03，钉钉“徐仁禄发起的视频会议”。原始转写本轮重新核对。https://shanji.dingtalk.com/app/transcribes/76327569643437383632373038385f353431313235325f39?from=minutes_portal</a:t>
            </a:r>
          </a:p>
          <a:p xmlns:a="http://schemas.openxmlformats.org/drawingml/2006/main">
            <a:r>
              <a:t>核心需求07:19–08:50；评估平台17:24–18:21；企业反馈21:33–22:18；三个月与首月安排22:29–22:43；AutoDev插件与优先级23:22–24:01。转写存在英文/模型名误识别，相关名称仅依据用户明确确认的TypeSafe System One归一，不补造原话。RSI图解本地MHTML为用户提供补充。</a:t>
            </a:r>
          </a:p>
          <a:p xmlns:a="http://schemas.openxmlformats.org/drawingml/2006/main">
            <a:r>
              <a:t>https://docs.typesafe.ai/api</a:t>
            </a:r>
          </a:p>
          <a:p xmlns:a="http://schemas.openxmlformats.org/drawingml/2006/main">
            <a:r>
              <a:t>https://huggingface.co/Qwen/Qwen3-4B</a:t>
            </a:r>
          </a:p>
          <a:p xmlns:a="http://schemas.openxmlformats.org/drawingml/2006/main">
            <a:r>
              <a:t>用户提供本地补充：~/Downloads/RSI 图解 · 让每次改进成为下一次的起点.mhtml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51db47e16485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7069f18c34c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343f31e464e8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0f0b0693b146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1870e09fb46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691a3e55a47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7BC09CA-DCB4-4D82-9601-EB31865BE3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F4A227A-544B-4E7F-9CE4-5EA1A4A2B9E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124D8B-EACB-4875-9FF0-25D5D41211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74A42C-CBDC-47C2-BE05-54D0CE0DF7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8812DFA-C998-427F-8EE6-4786618BBF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3AA302F-D459-4AC8-A7E4-C8CA86F256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2A1B2C-1EDA-4110-86ED-9B81531F5D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76F7036-346F-4BB1-9F16-A1F19F9B3A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79D05C-3AB5-4922-9693-40EC5FA3A7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5762BD-ABD2-4116-86B4-3B6E623730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f23ea56d8c443e" /><Relationship Type="http://schemas.openxmlformats.org/officeDocument/2006/relationships/slideLayout" Target="/ppt/slideLayouts/slideLayout1.xml" Id="Rd331006ea5d245da" /><Relationship Type="http://schemas.openxmlformats.org/officeDocument/2006/relationships/slideLayout" Target="/ppt/slideLayouts/slideLayout2.xml" Id="R7995e69395444262" /><Relationship Type="http://schemas.openxmlformats.org/officeDocument/2006/relationships/slideLayout" Target="/ppt/slideLayouts/slideLayout3.xml" Id="R46f68227835c41aa" /><Relationship Type="http://schemas.openxmlformats.org/officeDocument/2006/relationships/slideLayout" Target="/ppt/slideLayouts/slideLayout4.xml" Id="R5e3a14f9265e4f34" /><Relationship Type="http://schemas.openxmlformats.org/officeDocument/2006/relationships/slideLayout" Target="/ppt/slideLayouts/slideLayout5.xml" Id="Rbc3d4ee6e24f4c38" /><Relationship Type="http://schemas.openxmlformats.org/officeDocument/2006/relationships/slideLayout" Target="/ppt/slideLayouts/slideLayout6.xml" Id="R8c0506b726a94f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31006ea5d245da"/>
    <p:sldLayoutId xmlns:r="http://schemas.openxmlformats.org/officeDocument/2006/relationships" id="2147483650" r:id="R7995e69395444262"/>
    <p:sldLayoutId xmlns:r="http://schemas.openxmlformats.org/officeDocument/2006/relationships" id="2147483651" r:id="R46f68227835c41aa"/>
    <p:sldLayoutId xmlns:r="http://schemas.openxmlformats.org/officeDocument/2006/relationships" id="2147483652" r:id="R5e3a14f9265e4f34"/>
    <p:sldLayoutId xmlns:r="http://schemas.openxmlformats.org/officeDocument/2006/relationships" id="2147483653" r:id="Rbc3d4ee6e24f4c38"/>
    <p:sldLayoutId xmlns:r="http://schemas.openxmlformats.org/officeDocument/2006/relationships" id="2147483654" r:id="R8c0506b726a94f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b682015c274fbf" /><Relationship Type="http://schemas.openxmlformats.org/officeDocument/2006/relationships/notesSlide" Target="/ppt/notesSlides/notesSlide1.xml" Id="Rded22d56566746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87f9195878412f" /><Relationship Type="http://schemas.openxmlformats.org/officeDocument/2006/relationships/notesSlide" Target="/ppt/notesSlides/notesSlide2.xml" Id="R574639a1166842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5f17fce5704445" /><Relationship Type="http://schemas.openxmlformats.org/officeDocument/2006/relationships/notesSlide" Target="/ppt/notesSlides/notesSlide3.xml" Id="R8d15366a79824a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192f58a9144099" /><Relationship Type="http://schemas.openxmlformats.org/officeDocument/2006/relationships/notesSlide" Target="/ppt/notesSlides/notesSlide4.xml" Id="Rc975e733b85149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e072b2ef7f4d77" /><Relationship Type="http://schemas.openxmlformats.org/officeDocument/2006/relationships/notesSlide" Target="/ppt/notesSlides/notesSlide5.xml" Id="Ra3af7be091b843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0fc1367074e24" /><Relationship Type="http://schemas.openxmlformats.org/officeDocument/2006/relationships/notesSlide" Target="/ppt/notesSlides/notesSlide6.xml" Id="R7cad48ccbd484d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2f8b7e40fc4265" /><Relationship Type="http://schemas.openxmlformats.org/officeDocument/2006/relationships/notesSlide" Target="/ppt/notesSlides/notesSlide7.xml" Id="R74c27b9b617d4f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c6f2fefbff4ce9" /><Relationship Type="http://schemas.openxmlformats.org/officeDocument/2006/relationships/notesSlide" Target="/ppt/notesSlides/notesSlide8.xml" Id="Rcc177ff4e38743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ec5f0c07a04b64" /><Relationship Type="http://schemas.openxmlformats.org/officeDocument/2006/relationships/notesSlide" Target="/ppt/notesSlides/notesSlide9.xml" Id="R1898a4f3365d46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403d7b7e5e4f7e" /><Relationship Type="http://schemas.openxmlformats.org/officeDocument/2006/relationships/notesSlide" Target="/ppt/notesSlides/notesSlide10.xml" Id="R3aac7d12055b4f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fbf85d8eb94f9d" /><Relationship Type="http://schemas.openxmlformats.org/officeDocument/2006/relationships/notesSlide" Target="/ppt/notesSlides/notesSlide11.xml" Id="R91a9800b57834ef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d5c4b80d84d99" /><Relationship Type="http://schemas.openxmlformats.org/officeDocument/2006/relationships/notesSlide" Target="/ppt/notesSlides/notesSlide12.xml" Id="R562be39f810146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4844e600204789" /><Relationship Type="http://schemas.openxmlformats.org/officeDocument/2006/relationships/notesSlide" Target="/ppt/notesSlides/notesSlide13.xml" Id="Rc41ff376cb3f4e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c831e40a9e479f" /><Relationship Type="http://schemas.openxmlformats.org/officeDocument/2006/relationships/notesSlide" Target="/ppt/notesSlides/notesSlide14.xml" Id="R82ef1eb52bdf494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a680ab823d4ba1" /><Relationship Type="http://schemas.openxmlformats.org/officeDocument/2006/relationships/notesSlide" Target="/ppt/notesSlides/notesSlide15.xml" Id="R424406ddb13543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EB527-D32D-4BC4-856D-C1473F4B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会议目标复核与实施建议  /  2026.10.12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20C2BC-54FB-4530-B6A2-3CD4D47D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AutoDev RSI 与自有决策小模型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18231-C474-4D9E-985B-F4C8D452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35D85B-0577-40C6-8324-741958D3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71725"/>
            <a:ext cx="10668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两条研发主线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6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一套可信评估底座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BFA11-CCF4-4EA9-89F3-CFB4E132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智能体优化闭环  ·  企业决策模型训练链路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12353-F6E4-4E80-AF82-0F871DE3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依据 10 月 10 日原始会议转写，聚焦目标、交付、验证和资源安排</a:t>
            </a:r>
          </a:p>
        </p:txBody>
      </p:sp>
    </p:spTree>
    <p:extLst>
      <p:ext uri="{BB962C8B-B14F-4D97-AF65-F5344CB8AC3E}">
        <p14:creationId xmlns:p14="http://schemas.microsoft.com/office/powerpoint/2010/main" val="1558526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B1FE1-7220-452C-85BE-5B3E266E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会议原文  /  07:19–08:50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4D9F1-D525-46DB-94EB-76C545BD7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原会议明确的两个用户故事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FFF02-4881-4E4D-A479-D3ED882A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F6ECE-CE1D-4907-B5EE-758C99B49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方向一  AutoDev RSI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4EF9F-0AC1-4E1C-87F6-C653D55A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209800"/>
            <a:ext cx="7715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切换模型、Prompt 或 Skill，通过评估反馈自动调整，再次执行和评估。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F07DD-6E91-49E4-BB4B-CF444689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85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方向二  自有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D5107-B109-4C4E-8854-67915E23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81450"/>
            <a:ext cx="7715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针对一个业务场景训练小模型，打通数据、训练、评估和服务链路。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D19BA-7F48-4BD5-9DFC-A44A95FF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两条方向分别验收。小模型可承担业务决策，也可在适合的任务中辅助评估。</a:t>
            </a:r>
          </a:p>
        </p:txBody>
      </p:sp>
    </p:spTree>
    <p:extLst>
      <p:ext uri="{BB962C8B-B14F-4D97-AF65-F5344CB8AC3E}">
        <p14:creationId xmlns:p14="http://schemas.microsoft.com/office/powerpoint/2010/main" val="7901264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88A0A1-1AE5-48E6-856E-19E29AEB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会议复核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092E4-9DC7-40BF-81CB-116C4640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会议目标与本次方案边界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3A3C2-444E-426B-A565-BE9DBF84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BB8D5-DF0B-4663-8079-AD8E9129AAC8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533900"/>
                <a:gridCol w="4105275"/>
              </a:tblGrid>
              <a:tr h="6972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主题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会议已提出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仍需确认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评估底座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内部后台、题库与全流程 API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首批任务和错误成本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联动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自动切换参数、评分驱动优化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插件或独立调度、可写接口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小模型训练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业务反馈沉淀、持续训练与版本比较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目标业务、基座与算法负责人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项目节奏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约三个月，首月评估框架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实际人力、算力与周投入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5248B-34F7-4E02-879D-B850D29C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图片是会议讨论的优先评估切入口。具体商业场景与模型规模尚需验证后选择。</a:t>
            </a:r>
          </a:p>
        </p:txBody>
      </p:sp>
    </p:spTree>
    <p:extLst>
      <p:ext uri="{BB962C8B-B14F-4D97-AF65-F5344CB8AC3E}">
        <p14:creationId xmlns:p14="http://schemas.microsoft.com/office/powerpoint/2010/main" val="1886619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2FD2AA-B65D-4440-8700-54042E65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方案建议  /  研发范围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5464A-D23C-47AD-8264-D8BE57A1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两条方向的交付与验收对象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EF857-874C-43AE-995D-5654F68E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AA163-F270-4458-A39E-A3ED34BAF565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438650"/>
                <a:gridCol w="4438650"/>
              </a:tblGrid>
              <a:tr h="6972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对比项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RSI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自有 decision 小模型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改进对象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模型选择、Prompt、Skill、工作流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面向固定任务的模型权重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主要产物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优化调度、版本继承、回滚能力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数据集、训练任务、模型与推理 API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有效证据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同条件任务重放，新配置优于基线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锁定测试集、概率校准和业务损失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上线方式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通过发布门槛后启用新配置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影子评估、受控流量与兜底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003DE-753A-43D8-969F-A751AB54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RSI 可以先在配置层实现。决策模型训练需单独的数据、算法与权重版本管理。</a:t>
            </a:r>
          </a:p>
        </p:txBody>
      </p:sp>
    </p:spTree>
    <p:extLst>
      <p:ext uri="{BB962C8B-B14F-4D97-AF65-F5344CB8AC3E}">
        <p14:creationId xmlns:p14="http://schemas.microsoft.com/office/powerpoint/2010/main" val="13994506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9F7078-C7A5-4DF9-82D1-3188CD9A5531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487025" y="3705225"/>
            <a:ext cx="0" cy="8096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40A28C-7621-4D64-924A-E8F44194F554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848725" y="5100638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8C189D-462C-4458-A90A-44F38050618F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6191250" y="3705225"/>
            <a:ext cx="14668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3A2B2B-593E-45AD-8E51-A1B12C0F72C7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4724400" y="3705225"/>
            <a:ext cx="14668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10F2EA-2E75-4503-90DD-D11F63FF329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48725" y="2976563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CD9403-69ED-464E-8DAB-35C32FA4322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15025" y="2976563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5D6A85-6D07-4220-9882-703452E1DD6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990850" y="2976563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89164F-E015-41BB-B100-290BE50E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方案建议  /  原生可编辑架构图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94055-E5DE-4710-8F72-E849C98BF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共用评估系统架构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1DF2D-85C7-48F1-B09F-BB8D8535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tasks">
            <a:extLst xmlns:a="http://schemas.openxmlformats.org/drawingml/2006/main">
              <a:ext uri="{FF2B5EF4-FFF2-40B4-BE49-F238E27FC236}">
                <a16:creationId xmlns:a16="http://schemas.microsoft.com/office/drawing/2014/main" id="{B2F92575-C680-44C4-BCEA-C78268D6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3812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6105EF-76BC-4E80-B8A7-CD41E6FF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任务与标准库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76CB6-5657-48F1-A3BE-F34B1E04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20383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输入、标签、评分细则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开发 / 校准 / 留出</a:t>
            </a:r>
          </a:p>
        </p:txBody>
      </p:sp>
      <p:sp>
        <p:nvSpPr>
          <p:cNvPr id="7" name="runner">
            <a:extLst xmlns:a="http://schemas.openxmlformats.org/drawingml/2006/main">
              <a:ext uri="{FF2B5EF4-FFF2-40B4-BE49-F238E27FC236}">
                <a16:creationId xmlns:a16="http://schemas.microsoft.com/office/drawing/2014/main" id="{7042A0D7-7F50-49AD-B612-CA0305DF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47900"/>
            <a:ext cx="23812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BE09D-9192-452D-A9C3-7A2129EE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3907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执行与重放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368D6-AA80-480D-9E6B-F5430FBF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857500"/>
            <a:ext cx="20383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任务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小模型推理任务</a:t>
            </a:r>
          </a:p>
        </p:txBody>
      </p:sp>
      <p:sp>
        <p:nvSpPr>
          <p:cNvPr id="10" name="judge">
            <a:extLst xmlns:a="http://schemas.openxmlformats.org/drawingml/2006/main">
              <a:ext uri="{FF2B5EF4-FFF2-40B4-BE49-F238E27FC236}">
                <a16:creationId xmlns:a16="http://schemas.microsoft.com/office/drawing/2014/main" id="{72467FE9-F182-4798-A10E-FBC984BF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247900"/>
            <a:ext cx="23812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502E9-A963-4A99-BF37-D7BA7192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9077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独立评估器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AF64AE-FBFA-4925-9A13-F97A50EE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57500"/>
            <a:ext cx="20383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规则与可执行测试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模型裁判与人工盲评</a:t>
            </a:r>
          </a:p>
        </p:txBody>
      </p:sp>
      <p:sp>
        <p:nvSpPr>
          <p:cNvPr id="13" name="report">
            <a:extLst xmlns:a="http://schemas.openxmlformats.org/drawingml/2006/main">
              <a:ext uri="{FF2B5EF4-FFF2-40B4-BE49-F238E27FC236}">
                <a16:creationId xmlns:a16="http://schemas.microsoft.com/office/drawing/2014/main" id="{7A948801-CD94-47EE-AB4E-03C60C25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47900"/>
            <a:ext cx="21907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DC39C-7584-4B8D-BECF-39D4FC5D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9077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结果与报告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F2F32-444F-4A5D-B24D-09B50795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57500"/>
            <a:ext cx="1847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质量、成本、时延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失败类别与证据</a:t>
            </a:r>
          </a:p>
        </p:txBody>
      </p:sp>
      <p:sp>
        <p:nvSpPr>
          <p:cNvPr id="19" name="registry">
            <a:extLst xmlns:a="http://schemas.openxmlformats.org/drawingml/2006/main">
              <a:ext uri="{FF2B5EF4-FFF2-40B4-BE49-F238E27FC236}">
                <a16:creationId xmlns:a16="http://schemas.microsoft.com/office/drawing/2014/main" id="{063C7823-8331-425C-B62A-A8D7E5DF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514850"/>
            <a:ext cx="53149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DFE2CA-76C8-4C9A-A23D-4E9C5467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57725"/>
            <a:ext cx="497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数据、运行与版本登记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A94D65-D304-4D8A-9C94-D697D4F5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124450"/>
            <a:ext cx="4972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task_id、run_id、配置 / 模型版本、轨迹和产物引用</a:t>
            </a:r>
          </a:p>
        </p:txBody>
      </p:sp>
      <p:sp>
        <p:nvSpPr>
          <p:cNvPr id="22" name="gate">
            <a:extLst xmlns:a="http://schemas.openxmlformats.org/drawingml/2006/main">
              <a:ext uri="{FF2B5EF4-FFF2-40B4-BE49-F238E27FC236}">
                <a16:creationId xmlns:a16="http://schemas.microsoft.com/office/drawing/2014/main" id="{A1AF01E1-E8B8-47B9-B7A3-6611FBCC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14850"/>
            <a:ext cx="219075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2F641-2D29-4097-ABB2-E3DF94C9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577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发布门槛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9C6C12-CCCA-4AEE-BB0B-B5A9B955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124450"/>
            <a:ext cx="1847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接受 / 拒绝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灰度与回滚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91D24C-49CD-4D5E-89E3-C89D52FE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超时、接口错误与证据不足分别记账。未经验证的结果进入复核。</a:t>
            </a:r>
          </a:p>
        </p:txBody>
      </p:sp>
    </p:spTree>
    <p:extLst>
      <p:ext uri="{BB962C8B-B14F-4D97-AF65-F5344CB8AC3E}">
        <p14:creationId xmlns:p14="http://schemas.microsoft.com/office/powerpoint/2010/main" val="8460549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3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99B8C9-900A-4838-8971-4B528BA9B553}"/>
              </a:ext>
            </a:extLst>
          </p:cNvPr>
          <p:cNvCxnSpPr>
            <a:stCxn xmlns:a="http://schemas.openxmlformats.org/drawingml/2006/main" id="19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2085975" y="35147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69C56"/>
            </a:solidFill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D8A9E7-09C7-4B04-BD07-35049BFEAF5A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3562350" y="48529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69C56"/>
            </a:solidFill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404AF2-64D6-401A-8A2C-EE89C8963F89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467600" y="48529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69C56"/>
            </a:solidFill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6891BA-52B4-4B66-A3E3-C13B86B26E08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9896475" y="35147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69C56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AC71C1-DCFA-4E83-A49B-AA5CBE97CADE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67600" y="28432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69C5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26726-6180-433F-BB16-B2C49919DCB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62350" y="28432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D69C56"/>
            </a:solidFill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A32A03-134E-450A-A457-10928555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方案建议  /  原生可编辑流程图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647A8D-9E9B-4A21-B3B2-2BB74655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AutoDev RSI 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082A0-CCE8-4BDC-A497-2FA75974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load">
            <a:extLst xmlns:a="http://schemas.openxmlformats.org/drawingml/2006/main">
              <a:ext uri="{FF2B5EF4-FFF2-40B4-BE49-F238E27FC236}">
                <a16:creationId xmlns:a16="http://schemas.microsoft.com/office/drawing/2014/main" id="{B4290990-90D7-48C2-82BD-A9F7C4C7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2952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54B"/>
          </a:solidFill>
          <a:ln xmlns:a="http://schemas.openxmlformats.org/drawingml/2006/main" w="14288">
            <a:solidFill>
              <a:srgbClr val="C1D8D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704AF-5A20-449E-B194-7FB75E3E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457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1  加载已接受版本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0F99ED-D243-42FC-8F1D-B349FF30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609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模型 / Prompt / Skill 配置</a:t>
            </a:r>
          </a:p>
        </p:txBody>
      </p:sp>
      <p:sp>
        <p:nvSpPr>
          <p:cNvPr id="7" name="propose">
            <a:extLst xmlns:a="http://schemas.openxmlformats.org/drawingml/2006/main">
              <a:ext uri="{FF2B5EF4-FFF2-40B4-BE49-F238E27FC236}">
                <a16:creationId xmlns:a16="http://schemas.microsoft.com/office/drawing/2014/main" id="{62C0473C-EE86-44F9-84F7-11F70510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71700"/>
            <a:ext cx="2952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54B"/>
          </a:solidFill>
          <a:ln xmlns:a="http://schemas.openxmlformats.org/drawingml/2006/main" w="14288">
            <a:solidFill>
              <a:srgbClr val="C1D8D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54EBC-34A1-4878-ADEB-6262A151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1457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2  提出候选改动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2AFBB2-BED6-4D94-BA87-46D2968B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2609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目标、差异与预算</a:t>
            </a:r>
          </a:p>
        </p:txBody>
      </p:sp>
      <p:sp>
        <p:nvSpPr>
          <p:cNvPr id="10" name="execute">
            <a:extLst xmlns:a="http://schemas.openxmlformats.org/drawingml/2006/main">
              <a:ext uri="{FF2B5EF4-FFF2-40B4-BE49-F238E27FC236}">
                <a16:creationId xmlns:a16="http://schemas.microsoft.com/office/drawing/2014/main" id="{DECC8212-00CE-44F5-8900-FFCA8B24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2952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54B"/>
          </a:solidFill>
          <a:ln xmlns:a="http://schemas.openxmlformats.org/drawingml/2006/main" w="14288">
            <a:solidFill>
              <a:srgbClr val="C1D8D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CAA1EE-48BC-47D6-8E96-61442355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1457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3  执行开发任务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60E2A-427B-420E-8CA0-EE43395F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609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相同输入、环境与预算</a:t>
            </a:r>
          </a:p>
        </p:txBody>
      </p:sp>
      <p:sp>
        <p:nvSpPr>
          <p:cNvPr id="13" name="verify">
            <a:extLst xmlns:a="http://schemas.openxmlformats.org/drawingml/2006/main">
              <a:ext uri="{FF2B5EF4-FFF2-40B4-BE49-F238E27FC236}">
                <a16:creationId xmlns:a16="http://schemas.microsoft.com/office/drawing/2014/main" id="{0200E5DC-AE53-4637-98EA-05EA129F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81475"/>
            <a:ext cx="2952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54B"/>
          </a:solidFill>
          <a:ln xmlns:a="http://schemas.openxmlformats.org/drawingml/2006/main" w="14288">
            <a:solidFill>
              <a:srgbClr val="C1D8D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6933E-EE84-4A08-9C68-34FA83EE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43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4  独立发布验证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EA5BFE-DE06-4A33-A797-BDE54CE5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791075"/>
            <a:ext cx="2609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留出任务、成本与回归</a:t>
            </a:r>
          </a:p>
        </p:txBody>
      </p:sp>
      <p:sp>
        <p:nvSpPr>
          <p:cNvPr id="16" name="decide">
            <a:extLst xmlns:a="http://schemas.openxmlformats.org/drawingml/2006/main">
              <a:ext uri="{FF2B5EF4-FFF2-40B4-BE49-F238E27FC236}">
                <a16:creationId xmlns:a16="http://schemas.microsoft.com/office/drawing/2014/main" id="{D512A25A-4A93-4A9B-AC37-D7C52ABB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81475"/>
            <a:ext cx="2952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54B"/>
          </a:solidFill>
          <a:ln xmlns:a="http://schemas.openxmlformats.org/drawingml/2006/main" w="14288">
            <a:solidFill>
              <a:srgbClr val="C1D8D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ACA4B-6721-4267-8337-95690CAA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243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5  接受或拒绝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4C8420-5BC6-41B2-8455-25151C2B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791075"/>
            <a:ext cx="2609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通过门槛才替换配置</a:t>
            </a:r>
          </a:p>
        </p:txBody>
      </p:sp>
      <p:sp>
        <p:nvSpPr>
          <p:cNvPr id="19" name="persist">
            <a:extLst xmlns:a="http://schemas.openxmlformats.org/drawingml/2006/main">
              <a:ext uri="{FF2B5EF4-FFF2-40B4-BE49-F238E27FC236}">
                <a16:creationId xmlns:a16="http://schemas.microsoft.com/office/drawing/2014/main" id="{ABB6F865-CDFA-4423-878B-F743A8ED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2952750" cy="1343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54B"/>
          </a:solidFill>
          <a:ln xmlns:a="http://schemas.openxmlformats.org/drawingml/2006/main" w="14288">
            <a:solidFill>
              <a:srgbClr val="C1D8D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CE76ED-7193-40E7-9F4F-BC49CE2C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6  保存并实际继承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7877FC-BAC9-4E83-BAC7-C3C56CC5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26098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新运行核对加载版本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80304-F143-4C15-9B50-7CC75A3B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拒绝时保留旧版本。灰度退化时回滚。留出结果只用于发布验收。</a:t>
            </a:r>
          </a:p>
        </p:txBody>
      </p:sp>
    </p:spTree>
    <p:extLst>
      <p:ext uri="{BB962C8B-B14F-4D97-AF65-F5344CB8AC3E}">
        <p14:creationId xmlns:p14="http://schemas.microsoft.com/office/powerpoint/2010/main" val="17892741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E3C08-CFEC-4267-8D76-88B83DD3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方案建议  /  可交付的最小闭环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459CF4-400B-4890-BCE8-0B7D9018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AutoDev RSI 的首期交付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91685-0F82-4D24-A19D-3AAF355A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C47198-26AC-41BB-AD4F-66D13D43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85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参数切换接口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44C59-CD67-43C5-AA7F-E91CCF4E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14550"/>
            <a:ext cx="7715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读取和写入模型、Prompt、Skill 版本，校验权限并保留变更记录。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CCCF7C-EF7C-4BBB-9A46-A560DD0B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85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有预算的优化调度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150F3-F87B-4376-B747-29CF2476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33750"/>
            <a:ext cx="7715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一次只改有限变量，按开发反馈迭代，达到预算或停滞条件就停止。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81668-C911-4851-95CD-34DA81A5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285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继承与回滚证明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2F5C2C-1635-4E60-ACDE-902549B2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52950"/>
            <a:ext cx="7715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给出基线与候选报告，重启后核对加载版本，演示拒绝和回滚路径。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957AAE-E662-4194-8302-E7074DF4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首期选择一类已有 AutoDev 任务。成功判据应能从执行结果或独立标签确认。</a:t>
            </a:r>
          </a:p>
        </p:txBody>
      </p:sp>
    </p:spTree>
    <p:extLst>
      <p:ext uri="{BB962C8B-B14F-4D97-AF65-F5344CB8AC3E}">
        <p14:creationId xmlns:p14="http://schemas.microsoft.com/office/powerpoint/2010/main" val="5901094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F2C05-4657-4C6A-9B24-02ACAF1A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会议方向与方案建议  /  状态输入、有限动作输出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F3CCD-DAB9-49AB-B386-15EFF6F5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Decision 模型的产品形态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73019-E212-45CC-AD90-98772489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992EA-56BB-4D38-A9CD-EC0622BE11E5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333875"/>
                <a:gridCol w="4543425"/>
              </a:tblGrid>
              <a:tr h="6972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任务形态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输入与输出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可验证的起步任务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分类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状态信息；输出类别与概率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工单意图、任务类型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状态与候选项；输出选项与概率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工具 / Skill / 模型路由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排序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状态与候选列表；输出相对顺序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知识片段或候选方案排序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723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升级判断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现有结果与证据；输出是否升级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交给强模型或人工复核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1FE66-A3C5-4EC6-A371-D1645376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借鉴 System One 的结构化判断接口。首期只选一种任务，训练自己的权重。</a:t>
            </a:r>
          </a:p>
        </p:txBody>
      </p:sp>
    </p:spTree>
    <p:extLst>
      <p:ext uri="{BB962C8B-B14F-4D97-AF65-F5344CB8AC3E}">
        <p14:creationId xmlns:p14="http://schemas.microsoft.com/office/powerpoint/2010/main" val="1378049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4E2A7-7C77-43E0-B436-A48E0168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方案建议  /  复用已有链路，业务选择待确认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11A89-ADC8-4DE9-A46A-0EDF0F8B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建议以 AutoDev 路由作为训练试点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9BB16-9EB8-4F14-9933-4D993EC3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427DC-94A7-4B39-89C8-6013A3C7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明确一个决策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7C077-884A-4FA6-88B9-7DEE26A9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对给定任务选择一个可用 Skill，或判断是否需要升级到强模型。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63A8A4-03E4-4F85-8629-3FBA643C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285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建立客观标签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8814C-CF51-415B-A94A-E9FEDDAC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14700"/>
            <a:ext cx="7715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记录候选动作、执行成功、耗时和成本，结合人工判定形成标签。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32318-1C8B-4D06-B4A9-923E5B48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85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008A76"/>
                </a:solidFill>
                <a:latin typeface="Hiragino Sans GB"/>
                <a:ea typeface="Hiragino Sans GB"/>
                <a:cs typeface="Hiragino Sans GB"/>
              </a:rPr>
              <a:t>形成独立服务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F8388E-7199-4785-884C-2219893B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43425"/>
            <a:ext cx="7715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小模型给出选项和校准概率，策略服务执行动作，保留强模型兜底。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E4E33-8DE2-4793-9E49-713A13C3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先验证内部路由。企业 IoT / PLC 决策引擎保留为客户合作方向，另行验证数据和约束。</a:t>
            </a:r>
          </a:p>
        </p:txBody>
      </p:sp>
    </p:spTree>
    <p:extLst>
      <p:ext uri="{BB962C8B-B14F-4D97-AF65-F5344CB8AC3E}">
        <p14:creationId xmlns:p14="http://schemas.microsoft.com/office/powerpoint/2010/main" val="9635726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B074B2-B69A-4BEB-BF2F-A2E3167F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方案建议  /  先建立可信标签，再扩充训练数据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71F34-3A90-458C-8B67-195C7F93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Decision 数据收集与标注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0F0D5-CA29-4BEF-933F-C5E0C87F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FB4A7-BC66-479B-9C65-42607A9DD107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943475"/>
                <a:gridCol w="3981450"/>
              </a:tblGrid>
              <a:tr h="7048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环节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需要留下什么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质量要求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收集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决策前状态、候选动作、真实执行结果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成功、失败、边界案例均覆盖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标注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最佳动作或允许动作集合、升级原因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双人盲标关键样本，分歧裁决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扩充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教师伪标签、合成边界样本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抽检后入训练集，记录来源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切分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训练、开发、校准、锁定测试集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按任务族 / 客户 / 时间分组去重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89FE4-1005-4D99-8A57-66F2AEE6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用户点击或接受建议仅是反馈信号。测试标签需独立确认，避免未来结果泄漏到输入。</a:t>
            </a:r>
          </a:p>
        </p:txBody>
      </p:sp>
    </p:spTree>
    <p:extLst>
      <p:ext uri="{BB962C8B-B14F-4D97-AF65-F5344CB8AC3E}">
        <p14:creationId xmlns:p14="http://schemas.microsoft.com/office/powerpoint/2010/main" val="15034369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0DB7C0-EFF7-4EF5-AD88-27B64B65E07A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2085975" y="3571875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ED19B7-622D-468D-A488-29BEF928E8B2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562350" y="49006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4FBF24-EED4-4213-A635-2EA009213F80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7467600" y="49006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2DAA6-E379-4FBE-A09C-6CA6678252E9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896475" y="3571875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32C059-BA52-4934-B29A-FAB9DC37C8F5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67600" y="28813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D13E3-814D-4EC1-9227-1EB177A877D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62350" y="28813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008A76"/>
            </a:solidFill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851107-CE8E-4AFD-A99B-DD8402CB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方案建议  /  原生可编辑流程图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2BF04-D3A3-4C91-A7A8-54711586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Decision 模型训练与服务链路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23CE8-ADCE-4B55-8456-A025FAE3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data">
            <a:extLst xmlns:a="http://schemas.openxmlformats.org/drawingml/2006/main">
              <a:ext uri="{FF2B5EF4-FFF2-40B4-BE49-F238E27FC236}">
                <a16:creationId xmlns:a16="http://schemas.microsoft.com/office/drawing/2014/main" id="{3B971AF3-BB44-4A89-8118-7A899865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313EE6-08DF-4437-BD57-C6E49712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1  数据与标注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7857C-202F-46A3-B972-C99611A8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2609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状态、动作、结果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分组切分与版本</a:t>
            </a:r>
          </a:p>
        </p:txBody>
      </p:sp>
      <p:sp>
        <p:nvSpPr>
          <p:cNvPr id="7" name="train">
            <a:extLst xmlns:a="http://schemas.openxmlformats.org/drawingml/2006/main">
              <a:ext uri="{FF2B5EF4-FFF2-40B4-BE49-F238E27FC236}">
                <a16:creationId xmlns:a16="http://schemas.microsoft.com/office/drawing/2014/main" id="{2B02C8B0-B682-4998-93CE-0146BD22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90750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067071-56C9-449C-802D-615E1D68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336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2  训练任务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6B49F-BBB5-4A40-B0D7-A113564F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00350"/>
            <a:ext cx="2609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规则 / 分类器基线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小语言模型监督微调</a:t>
            </a:r>
          </a:p>
        </p:txBody>
      </p:sp>
      <p:sp>
        <p:nvSpPr>
          <p:cNvPr id="10" name="calibrate">
            <a:extLst xmlns:a="http://schemas.openxmlformats.org/drawingml/2006/main">
              <a:ext uri="{FF2B5EF4-FFF2-40B4-BE49-F238E27FC236}">
                <a16:creationId xmlns:a16="http://schemas.microsoft.com/office/drawing/2014/main" id="{83C5885A-436E-473C-B899-00A54A41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562B6-7F39-43CD-AF5C-3BD31A0B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336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3  校准与离线验收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E78C9E-EBF6-4059-9A0A-4E9AF593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0350"/>
            <a:ext cx="2609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错误成本、校准概率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锁定测试与分组表现</a:t>
            </a:r>
          </a:p>
        </p:txBody>
      </p:sp>
      <p:sp>
        <p:nvSpPr>
          <p:cNvPr id="13" name="feedback">
            <a:extLst xmlns:a="http://schemas.openxmlformats.org/drawingml/2006/main">
              <a:ext uri="{FF2B5EF4-FFF2-40B4-BE49-F238E27FC236}">
                <a16:creationId xmlns:a16="http://schemas.microsoft.com/office/drawing/2014/main" id="{5B85EB86-C6C3-41F0-9501-4A7A147D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E1E906-9D47-4E7A-9E74-C2EE4CBE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529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6  反馈与增量训练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69E6B-17E2-45A3-B3DA-0015C3F0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2609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审核新数据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回归旧任务</a:t>
            </a:r>
          </a:p>
        </p:txBody>
      </p:sp>
      <p:sp>
        <p:nvSpPr>
          <p:cNvPr id="16" name="shadow">
            <a:extLst xmlns:a="http://schemas.openxmlformats.org/drawingml/2006/main">
              <a:ext uri="{FF2B5EF4-FFF2-40B4-BE49-F238E27FC236}">
                <a16:creationId xmlns:a16="http://schemas.microsoft.com/office/drawing/2014/main" id="{428D927E-2587-4E00-8711-E6E8D83F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0050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3AC27-3EF2-4FE6-BE60-9603CB419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5  影子运行与灰度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669425-69FD-4EF6-90D1-A30A5174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19650"/>
            <a:ext cx="2609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固定流量、升级兜底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监控与回滚</a:t>
            </a:r>
          </a:p>
        </p:txBody>
      </p:sp>
      <p:sp>
        <p:nvSpPr>
          <p:cNvPr id="19" name="deploy">
            <a:extLst xmlns:a="http://schemas.openxmlformats.org/drawingml/2006/main">
              <a:ext uri="{FF2B5EF4-FFF2-40B4-BE49-F238E27FC236}">
                <a16:creationId xmlns:a16="http://schemas.microsoft.com/office/drawing/2014/main" id="{6C54374C-73CB-4432-9926-41BABA66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8A7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0B569F-F894-44A7-932D-BCB77F08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52925"/>
            <a:ext cx="2609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4  版本登记与部署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72B3F7-40E6-45BF-94B1-238AC646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19650"/>
            <a:ext cx="26098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数据 / 权重 / 阈值</a:t>
            </a:r>
          </a:p>
          <a:p xmlns:a="http://schemas.openxmlformats.org/drawingml/2006/main">
            <a:pPr>
              <a:def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模型推理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E4C564-52CB-4CA8-AE9A-D811D7B5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候选建议从可训练的 3B–8B 中文基座比较。先监督训练，达到需要时再评估强化学习。</a:t>
            </a:r>
          </a:p>
        </p:txBody>
      </p:sp>
    </p:spTree>
    <p:extLst>
      <p:ext uri="{BB962C8B-B14F-4D97-AF65-F5344CB8AC3E}">
        <p14:creationId xmlns:p14="http://schemas.microsoft.com/office/powerpoint/2010/main" val="9670836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8D212-FCF8-4F38-A2BB-6154ADBB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方案建议  /  目标值在第 1 月冻结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746BD-EC7E-4549-B701-1C946928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两条主线的验收门槛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2170E-BBC1-4523-93C3-C38708EA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5E634-2AD1-4348-A46A-00E61BFFA360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5676900"/>
                <a:gridCol w="3105150"/>
              </a:tblGrid>
              <a:tr h="7239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对象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建议验收标准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证据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共用底座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启动 / 进度 / 报告 API 可用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同任务可追溯并重放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版本快照、标签复核报告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RSI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至少 1 类任务的留出收益区间大于 0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硬性回归通过，资源不超预算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配对报告、继承与回滚演示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Decision 小模型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自动覆盖率 ≥70% 时，错误率 ≤5%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相对强模型基线总成本下降 ≥30%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锁定测试、校准与影子报告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稳定性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P95 时延与升级比例达冻结目标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训练新版本后旧任务不退化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分组指标、运行与回归记录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2D538-351E-424F-B8B6-238E2070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高代价误决策需要更严格门槛。样本不足或收益不显著时，报告未达标并收缩范围。</a:t>
            </a:r>
          </a:p>
        </p:txBody>
      </p:sp>
    </p:spTree>
    <p:extLst>
      <p:ext uri="{BB962C8B-B14F-4D97-AF65-F5344CB8AC3E}">
        <p14:creationId xmlns:p14="http://schemas.microsoft.com/office/powerpoint/2010/main" val="16947794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797C9-0FA8-496B-A764-468A1B24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会议约三个月  /  以下双线排期为建议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E9615-0BC4-45D1-A1AB-6EFCC21A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三个月的开发排期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F2E54-9D94-4EB8-A130-69C8C238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606F2D-AE73-42C3-8F5B-21F1877C5633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581525"/>
                <a:gridCol w="4581525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共用底座与 AutoDev RSI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Decision 小模型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1 月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定义与基线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内部评估 API / 后台、题库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AutoDev 接口核对、基线重放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确定一种决策、采集标注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规则与强模型对照、训练接口确认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2 月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原型与离线验证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预算调度、候选比较、版本管理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留出评估与回滚原型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监督微调、校准、锁定测试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权重登记、推理 API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 3 月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闭环与试运行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实际继承、灰度、失败路径验收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交付完整 RSI 演示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影子运行、增量训练与回归</a:t>
                      </a:r>
                    </a:p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交付模型和新旧版本比较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510C2C-C562-4E6B-92CD-E2BDC102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工程与算法各需明确负责人。MaaS / AutoDev 接口是关键依赖，TokenHub 需求仍按会议优先。</a:t>
            </a:r>
          </a:p>
        </p:txBody>
      </p:sp>
    </p:spTree>
    <p:extLst>
      <p:ext uri="{BB962C8B-B14F-4D97-AF65-F5344CB8AC3E}">
        <p14:creationId xmlns:p14="http://schemas.microsoft.com/office/powerpoint/2010/main" val="18067656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38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75633-C7C3-4910-A657-B7CA6AC2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方案建议  /  管理层需要确认的事项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83B54-69FF-442C-9938-C01BF2AF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立项决策与后续产品化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ADDAC-83D8-4718-8510-41431FCB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AAE30-96D0-4FD6-B869-E8A5F46B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85975"/>
            <a:ext cx="285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确认首期范围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4A2D9F-DF89-4534-A329-8640A1DD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85975"/>
            <a:ext cx="7715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一类 AutoDev 优化任务、一种 decision 决策，指定数据与验收负责人。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48254-5BC2-4172-96BA-2607B82F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85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落实资源与接口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0DF72-AFD3-4FE1-BFEA-0C3ED51B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24225"/>
            <a:ext cx="7715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确定工程、算法投入和训练预算，确认 AutoDev 可写配置与 MaaS 训练接口。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63A7E-0410-4812-9C06-65B8813E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2857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69C56"/>
                </a:solidFill>
                <a:latin typeface="Hiragino Sans GB"/>
                <a:ea typeface="Hiragino Sans GB"/>
                <a:cs typeface="Hiragino Sans GB"/>
              </a:rPr>
              <a:t>阶段性投入依据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D01EB-B43B-41D9-88C3-DF174948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62475"/>
            <a:ext cx="7715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先用内部数据证明改进，再通过 TokenHub 提供决策 API 或企业模型训练服务。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AF2D2-6F3D-4A14-AAF7-0F3C6441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C1D8D5"/>
                </a:solidFill>
                <a:latin typeface="Hiragino Sans GB"/>
                <a:ea typeface="Hiragino Sans GB"/>
                <a:cs typeface="Hiragino Sans GB"/>
              </a:rPr>
              <a:t>首期交付：评估后台、AutoDev RSI 闭环、自有 decision 权重与 API、两份独立验收报告。</a:t>
            </a:r>
          </a:p>
        </p:txBody>
      </p:sp>
    </p:spTree>
    <p:extLst>
      <p:ext uri="{BB962C8B-B14F-4D97-AF65-F5344CB8AC3E}">
        <p14:creationId xmlns:p14="http://schemas.microsoft.com/office/powerpoint/2010/main" val="13550125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AD204-C3E5-4ABB-A63A-DD31D589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附录  /  原始记录索引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50923-21BF-45FB-862F-787BCA1C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14383E"/>
                </a:solidFill>
                <a:latin typeface="Hiragino Sans GB"/>
                <a:ea typeface="Hiragino Sans GB"/>
                <a:cs typeface="Hiragino Sans GB"/>
              </a:rPr>
              <a:t>会议证据与方案来源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3E3763-2019-43C9-8AA7-C40C2BFA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91275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C2C5D-4555-4F49-BC8D-C03F947B1C49}"/>
              </a:ext>
            </a:extLst>
          </p:cNvPr>
          <p:cNvGraphicFramePr/>
          <p:nvPr/>
        </p:nvGraphicFramePr>
        <p:xfrm>
          <a:off xmlns:a="http://schemas.openxmlformats.org/drawingml/2006/main" x="609600" y="21431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781425"/>
                <a:gridCol w="4619625"/>
              </a:tblGrid>
              <a:tr h="6953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依据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时段或来源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支持的结论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T w="9525">
                      <a:solidFill>
                        <a:srgbClr val="CAD7D1"/>
                      </a:solidFill>
                      <a:prstDash val="solid"/>
                    </a:lnT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14383E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会议原始转写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07:19–08:50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两个用户故事及训练接口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会议原始转写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17:24–18:21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内部题库与全流程 API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会议原始转写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21:33–22:43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企业反馈、版本提升、首月框架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补充与公开资料</a:t>
                      </a:r>
                    </a:p>
                  </a:txBody>
                  <a:tcPr marL="133350" marR="133350" marT="114300" marB="114300">
                    <a:lnL w="9525">
                      <a:solidFill>
                        <a:srgbClr val="CAD7D1"/>
                      </a:solidFill>
                      <a:prstDash val="solid"/>
                    </a:lnL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RSI 图解、TypeSafe API、Qwen 模型卡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4383E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继承验证、输出形态、候选基座</a:t>
                      </a:r>
                    </a:p>
                  </a:txBody>
                  <a:tcPr marL="133350" marR="133350" marT="114300" marB="114300">
                    <a:lnR w="9525">
                      <a:solidFill>
                        <a:srgbClr val="CAD7D1"/>
                      </a:solidFill>
                      <a:prstDash val="solid"/>
                    </a:lnR>
                    <a:lnB w="9525">
                      <a:solidFill>
                        <a:srgbClr val="CAD7D1"/>
                      </a:solidFill>
                      <a:prstDash val="solid"/>
                    </a:lnB>
                    <a:solidFill>
                      <a:srgbClr val="DDED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0FD8F-CDB5-431C-9161-2455E53B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1757A"/>
                </a:solidFill>
                <a:latin typeface="Hiragino Sans GB"/>
                <a:ea typeface="Hiragino Sans GB"/>
                <a:cs typeface="Hiragino Sans GB"/>
              </a:rPr>
              <a:t>架构、训练方式、首期路由任务与数值验收门槛为建议，未视为会议定案或已有结果。</a:t>
            </a:r>
          </a:p>
        </p:txBody>
      </p:sp>
    </p:spTree>
    <p:extLst>
      <p:ext uri="{BB962C8B-B14F-4D97-AF65-F5344CB8AC3E}">
        <p14:creationId xmlns:p14="http://schemas.microsoft.com/office/powerpoint/2010/main" val="18714195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2026-10-12T09:44:26.3210000Z</dcterms:created>
  <dcterms:modified xsi:type="dcterms:W3CDTF">2026-10-12T09:44:26.3210000Z</dcterms:modified>
</coreProperties>
</file>