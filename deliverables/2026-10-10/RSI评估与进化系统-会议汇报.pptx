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6498b9e0f74b34" /><Relationship Type="http://schemas.openxmlformats.org/officeDocument/2006/relationships/extended-properties" Target="/docProps/app.xml" Id="R40492956f13f4857" /><Relationship Type="http://schemas.openxmlformats.org/officeDocument/2006/relationships/officeDocument" Target="/ppt/presentation.xml" Id="R7a4a707b9e4946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1a65bcecda4932"/>
  </p:sldMasterIdLst>
  <p:notesMasterIdLst>
    <p:notesMasterId xmlns:r="http://schemas.openxmlformats.org/officeDocument/2006/relationships" r:id="R50295dcd70aa4672"/>
  </p:notesMasterIdLst>
  <p:sldIdLst>
    <p:sldId xmlns:r="http://schemas.openxmlformats.org/officeDocument/2006/relationships" id="256" r:id="Rbecb08011b494e18"/>
    <p:sldId xmlns:r="http://schemas.openxmlformats.org/officeDocument/2006/relationships" id="257" r:id="R1663e72a2aac4542"/>
    <p:sldId xmlns:r="http://schemas.openxmlformats.org/officeDocument/2006/relationships" id="258" r:id="R5678d10f33274165"/>
    <p:sldId xmlns:r="http://schemas.openxmlformats.org/officeDocument/2006/relationships" id="259" r:id="R17d936851e3449b4"/>
    <p:sldId xmlns:r="http://schemas.openxmlformats.org/officeDocument/2006/relationships" id="260" r:id="R6b7be3158532403c"/>
    <p:sldId xmlns:r="http://schemas.openxmlformats.org/officeDocument/2006/relationships" id="261" r:id="Rf9a8f8aceed04c5d"/>
    <p:sldId xmlns:r="http://schemas.openxmlformats.org/officeDocument/2006/relationships" id="262" r:id="R192860b489ea4c6d"/>
    <p:sldId xmlns:r="http://schemas.openxmlformats.org/officeDocument/2006/relationships" id="263" r:id="R9b7f62fa7424482f"/>
    <p:sldId xmlns:r="http://schemas.openxmlformats.org/officeDocument/2006/relationships" id="264" r:id="Rc4402650ac984e51"/>
    <p:sldId xmlns:r="http://schemas.openxmlformats.org/officeDocument/2006/relationships" id="265" r:id="Rb98bba8d90944d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c2048acfb942b2" /><Relationship Type="http://schemas.openxmlformats.org/officeDocument/2006/relationships/slideMaster" Target="/ppt/slideMasters/slideMaster1.xml" Id="Ra51a65bcecda4932" /><Relationship Type="http://schemas.openxmlformats.org/officeDocument/2006/relationships/notesMaster" Target="/ppt/notesMasters/notesMaster1.xml" Id="R50295dcd70aa4672" /><Relationship Type="http://schemas.openxmlformats.org/officeDocument/2006/relationships/presProps" Target="/ppt/presProps.xml" Id="Rf8be21bbe44c42b4" /><Relationship Type="http://schemas.openxmlformats.org/officeDocument/2006/relationships/tableStyles" Target="/ppt/tableStyles.xml" Id="Rdc2cf2b305ad4f58" /><Relationship Type="http://schemas.openxmlformats.org/officeDocument/2006/relationships/slide" Target="/ppt/slides/slide1.xml" Id="Rbecb08011b494e18" /><Relationship Type="http://schemas.openxmlformats.org/officeDocument/2006/relationships/slide" Target="/ppt/slides/slide2.xml" Id="R1663e72a2aac4542" /><Relationship Type="http://schemas.openxmlformats.org/officeDocument/2006/relationships/slide" Target="/ppt/slides/slide3.xml" Id="R5678d10f33274165" /><Relationship Type="http://schemas.openxmlformats.org/officeDocument/2006/relationships/slide" Target="/ppt/slides/slide4.xml" Id="R17d936851e3449b4" /><Relationship Type="http://schemas.openxmlformats.org/officeDocument/2006/relationships/slide" Target="/ppt/slides/slide5.xml" Id="R6b7be3158532403c" /><Relationship Type="http://schemas.openxmlformats.org/officeDocument/2006/relationships/slide" Target="/ppt/slides/slide6.xml" Id="Rf9a8f8aceed04c5d" /><Relationship Type="http://schemas.openxmlformats.org/officeDocument/2006/relationships/slide" Target="/ppt/slides/slide7.xml" Id="R192860b489ea4c6d" /><Relationship Type="http://schemas.openxmlformats.org/officeDocument/2006/relationships/slide" Target="/ppt/slides/slide8.xml" Id="R9b7f62fa7424482f" /><Relationship Type="http://schemas.openxmlformats.org/officeDocument/2006/relationships/slide" Target="/ppt/slides/slide9.xml" Id="Rc4402650ac984e51" /><Relationship Type="http://schemas.openxmlformats.org/officeDocument/2006/relationships/slide" Target="/ppt/slides/slide10.xml" Id="Rb98bba8d90944d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a009bea21c43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bb46d35a054ceb" /><Relationship Type="http://schemas.openxmlformats.org/officeDocument/2006/relationships/notesMaster" Target="/ppt/notesMasters/notesMaster1.xml" Id="R72901b6b2fef40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27d28ce5594857" /><Relationship Type="http://schemas.openxmlformats.org/officeDocument/2006/relationships/notesMaster" Target="/ppt/notesMasters/notesMaster1.xml" Id="Re26c43488a6f49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c9a95d33d546e0" /><Relationship Type="http://schemas.openxmlformats.org/officeDocument/2006/relationships/notesMaster" Target="/ppt/notesMasters/notesMaster1.xml" Id="Rd8eecbf630974a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17ae914cc34707" /><Relationship Type="http://schemas.openxmlformats.org/officeDocument/2006/relationships/notesMaster" Target="/ppt/notesMasters/notesMaster1.xml" Id="R36e102fd83f242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a164099df949b5" /><Relationship Type="http://schemas.openxmlformats.org/officeDocument/2006/relationships/notesMaster" Target="/ppt/notesMasters/notesMaster1.xml" Id="Rc871f262391d4b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325e35d2274543" /><Relationship Type="http://schemas.openxmlformats.org/officeDocument/2006/relationships/notesMaster" Target="/ppt/notesMasters/notesMaster1.xml" Id="R9d6d620a84a94e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cc8fa52b074707" /><Relationship Type="http://schemas.openxmlformats.org/officeDocument/2006/relationships/notesMaster" Target="/ppt/notesMasters/notesMaster1.xml" Id="R352fc9ffeb3149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9257f1176240e2" /><Relationship Type="http://schemas.openxmlformats.org/officeDocument/2006/relationships/notesMaster" Target="/ppt/notesMasters/notesMaster1.xml" Id="R00890cd909834f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cca4345d6044c3" /><Relationship Type="http://schemas.openxmlformats.org/officeDocument/2006/relationships/notesMaster" Target="/ppt/notesMasters/notesMaster1.xml" Id="Rc5fea1d694104d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8ec91d611d4698" /><Relationship Type="http://schemas.openxmlformats.org/officeDocument/2006/relationships/notesMaster" Target="/ppt/notesMasters/notesMaster1.xml" Id="R894aefee85994c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钉钉 AI 听记：《徐仁禄发起的视频会议》，2026-10-10 15:30–16:03，参会：徐仁禄、朱哲。完整纪要：https://shanji.dingtalk.com/app/transcribes/76327569643437383632373038385f353431313235325f39 。本稿依据智能会议总结和 AI 纪要整理，未独立核对录音。</a:t>
            </a:r>
          </a:p>
          <a:p xmlns:a="http://schemas.openxmlformats.org/drawingml/2006/main">
            <a:r>
              <a:t>补充材料：用户提供的《RSI 图解 · 让每次改进成为下一次的起点.mhtml》，本地文件，v1.0.0，整理于 2026-10-09。该文件基于中文综述导读，包含工程解读与说明性案例，不构成长期自主改进的实验证据。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钉钉 AI 听记：《徐仁禄发起的视频会议》，2026-10-10 15:30–16:03，参会：徐仁禄、朱哲。完整纪要：https://shanji.dingtalk.com/app/transcribes/76327569643437383632373038385f353431313235325f39 。本稿依据智能会议总结和 AI 纪要整理，未独立核对录音。</a:t>
            </a:r>
          </a:p>
          <a:p xmlns:a="http://schemas.openxmlformats.org/drawingml/2006/main">
            <a:r>
              <a:t>补充材料：用户提供的《RSI 图解 · 让每次改进成为下一次的起点.mhtml》，本地文件，v1.0.0，整理于 2026-10-09。该文件基于中文综述导读，包含工程解读与说明性案例，不构成长期自主改进的实验证据。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钉钉 AI 听记：《徐仁禄发起的视频会议》，2026-10-10 15:30–16:03，参会：徐仁禄、朱哲。完整纪要：https://shanji.dingtalk.com/app/transcribes/76327569643437383632373038385f353431313235325f39 。本稿依据智能会议总结和 AI 纪要整理，未独立核对录音。</a:t>
            </a:r>
          </a:p>
          <a:p xmlns:a="http://schemas.openxmlformats.org/drawingml/2006/main">
            <a:r>
              <a:t>补充材料：用户提供的《RSI 图解 · 让每次改进成为下一次的起点.mhtml》，本地文件，v1.0.0，整理于 2026-10-09。该文件基于中文综述导读，包含工程解读与说明性案例，不构成长期自主改进的实验证据。</a:t>
            </a:r>
          </a:p>
          <a:p xmlns:a="http://schemas.openxmlformats.org/drawingml/2006/main">
            <a:r>
              <a:t>表格职责划分为整理后的工程建议，并非已实施的模块验收。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钉钉 AI 听记：《徐仁禄发起的视频会议》，2026-10-10 15:30–16:03，参会：徐仁禄、朱哲。完整纪要：https://shanji.dingtalk.com/app/transcribes/76327569643437383632373038385f353431313235325f39 。本稿依据智能会议总结和 AI 纪要整理，未独立核对录音。</a:t>
            </a:r>
          </a:p>
          <a:p xmlns:a="http://schemas.openxmlformats.org/drawingml/2006/main">
            <a:r>
              <a:t>补充材料：用户提供的《RSI 图解 · 让每次改进成为下一次的起点.mhtml》，本地文件，v1.0.0，整理于 2026-10-09。该文件基于中文综述导读，包含工程解读与说明性案例，不构成长期自主改进的实验证据。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钉钉 AI 听记：《徐仁禄发起的视频会议》，2026-10-10 15:30–16:03，参会：徐仁禄、朱哲。完整纪要：https://shanji.dingtalk.com/app/transcribes/76327569643437383632373038385f353431313235325f39 。本稿依据智能会议总结和 AI 纪要整理，未独立核对录音。</a:t>
            </a:r>
          </a:p>
          <a:p xmlns:a="http://schemas.openxmlformats.org/drawingml/2006/main">
            <a:r>
              <a:t>补充材料：用户提供的《RSI 图解 · 让每次改进成为下一次的起点.mhtml》，本地文件，v1.0.0，整理于 2026-10-09。该文件基于中文综述导读，包含工程解读与说明性案例，不构成长期自主改进的实验证据。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钉钉 AI 听记：《徐仁禄发起的视频会议》，2026-10-10 15:30–16:03，参会：徐仁禄、朱哲。完整纪要：https://shanji.dingtalk.com/app/transcribes/76327569643437383632373038385f353431313235325f39 。本稿依据智能会议总结和 AI 纪要整理，未独立核对录音。</a:t>
            </a:r>
          </a:p>
          <a:p xmlns:a="http://schemas.openxmlformats.org/drawingml/2006/main">
            <a:r>
              <a:t>补充材料：用户提供的《RSI 图解 · 让每次改进成为下一次的起点.mhtml》，本地文件，v1.0.0，整理于 2026-10-09。该文件基于中文综述导读，包含工程解读与说明性案例，不构成长期自主改进的实验证据。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钉钉 AI 听记：《徐仁禄发起的视频会议》，2026-10-10 15:30–16:03，参会：徐仁禄、朱哲。完整纪要：https://shanji.dingtalk.com/app/transcribes/76327569643437383632373038385f353431313235325f39 。本稿依据智能会议总结和 AI 纪要整理，未独立核对录音。</a:t>
            </a:r>
          </a:p>
          <a:p xmlns:a="http://schemas.openxmlformats.org/drawingml/2006/main">
            <a:r>
              <a:t>补充材料：用户提供的《RSI 图解 · 让每次改进成为下一次的起点.mhtml》，本地文件，v1.0.0，整理于 2026-10-09。该文件基于中文综述导读，包含工程解读与说明性案例，不构成长期自主改进的实验证据。</a:t>
            </a:r>
          </a:p>
          <a:p xmlns:a="http://schemas.openxmlformats.org/drawingml/2006/main">
            <a:r>
              <a:t>顺序来自补充图解。质量与权限门槛属于该图解的工程建议，待项目明确实现细则。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钉钉 AI 听记：《徐仁禄发起的视频会议》，2026-10-10 15:30–16:03，参会：徐仁禄、朱哲。完整纪要：https://shanji.dingtalk.com/app/transcribes/76327569643437383632373038385f353431313235325f39 。本稿依据智能会议总结和 AI 纪要整理，未独立核对录音。</a:t>
            </a:r>
          </a:p>
          <a:p xmlns:a="http://schemas.openxmlformats.org/drawingml/2006/main">
            <a:r>
              <a:t>补充材料：用户提供的《RSI 图解 · 让每次改进成为下一次的起点.mhtml》，本地文件，v1.0.0，整理于 2026-10-09。该文件基于中文综述导读，包含工程解读与说明性案例，不构成长期自主改进的实验证据。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钉钉 AI 听记：《徐仁禄发起的视频会议》，2026-10-10 15:30–16:03，参会：徐仁禄、朱哲。完整纪要：https://shanji.dingtalk.com/app/transcribes/76327569643437383632373038385f353431313235325f39 。本稿依据智能会议总结和 AI 纪要整理，未独立核对录音。</a:t>
            </a:r>
          </a:p>
          <a:p xmlns:a="http://schemas.openxmlformats.org/drawingml/2006/main">
            <a:r>
              <a:t>补充材料：用户提供的《RSI 图解 · 让每次改进成为下一次的起点.mhtml》，本地文件，v1.0.0，整理于 2026-10-09。该文件基于中文综述导读，包含工程解读与说明性案例，不构成长期自主改进的实验证据。</a:t>
            </a:r>
          </a:p>
          <a:p xmlns:a="http://schemas.openxmlformats.org/drawingml/2006/main">
            <a:r>
              <a:t>会议明确预计三个月、首月评估框架与 API 化后台、后续月份联动优化。本页将后续工作拆成第 2 月联动、第 3 月闭环，属于建议排布，尚非确认排期。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钉钉 AI 听记：《徐仁禄发起的视频会议》，2026-10-10 15:30–16:03，参会：徐仁禄、朱哲。完整纪要：https://shanji.dingtalk.com/app/transcribes/76327569643437383632373038385f353431313235325f39 。本稿依据智能会议总结和 AI 纪要整理，未独立核对录音。</a:t>
            </a:r>
          </a:p>
          <a:p xmlns:a="http://schemas.openxmlformats.org/drawingml/2006/main">
            <a:r>
              <a:t>补充材料：用户提供的《RSI 图解 · 让每次改进成为下一次的起点.mhtml》，本地文件，v1.0.0，整理于 2026-10-09。该文件基于中文综述导读，包含工程解读与说明性案例，不构成长期自主改进的实验证据。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01370a86eb4e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a39177f8334e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8433319a9548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58e5b941fd45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80543ca30b48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6b2ae84c9343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D52A46-CBBF-4B7E-BB3F-0CF833787B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11D7DE-AABD-48DF-9167-E75E518226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6E77FA1-BCF1-4A63-9902-CB06A5EE2D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DCEE47-9DE9-4323-B144-573107D1E3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404F144-AA0A-476F-BB4C-2206E90A01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9581A64-811A-48A4-ADBA-E32166D3EF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2DDDDB-0722-47C6-9D6F-75770FEF9A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665AD28-E9C9-4588-A4CE-BDA639094F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CFF229-4979-46AD-AF26-98EAD12D7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ACFAD8-D8F2-4A11-9675-767C130CF4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27f45d380f409e" /><Relationship Type="http://schemas.openxmlformats.org/officeDocument/2006/relationships/slideLayout" Target="/ppt/slideLayouts/slideLayout1.xml" Id="R218eb314cafb40d1" /><Relationship Type="http://schemas.openxmlformats.org/officeDocument/2006/relationships/slideLayout" Target="/ppt/slideLayouts/slideLayout2.xml" Id="R26c33995d7014797" /><Relationship Type="http://schemas.openxmlformats.org/officeDocument/2006/relationships/slideLayout" Target="/ppt/slideLayouts/slideLayout3.xml" Id="Rb8cbfb0748f84b4d" /><Relationship Type="http://schemas.openxmlformats.org/officeDocument/2006/relationships/slideLayout" Target="/ppt/slideLayouts/slideLayout4.xml" Id="R993d7764ed87427e" /><Relationship Type="http://schemas.openxmlformats.org/officeDocument/2006/relationships/slideLayout" Target="/ppt/slideLayouts/slideLayout5.xml" Id="Rac2c2a453c77433f" /><Relationship Type="http://schemas.openxmlformats.org/officeDocument/2006/relationships/slideLayout" Target="/ppt/slideLayouts/slideLayout6.xml" Id="R2aafd7eb91464f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8eb314cafb40d1"/>
    <p:sldLayoutId xmlns:r="http://schemas.openxmlformats.org/officeDocument/2006/relationships" id="2147483650" r:id="R26c33995d7014797"/>
    <p:sldLayoutId xmlns:r="http://schemas.openxmlformats.org/officeDocument/2006/relationships" id="2147483651" r:id="Rb8cbfb0748f84b4d"/>
    <p:sldLayoutId xmlns:r="http://schemas.openxmlformats.org/officeDocument/2006/relationships" id="2147483652" r:id="R993d7764ed87427e"/>
    <p:sldLayoutId xmlns:r="http://schemas.openxmlformats.org/officeDocument/2006/relationships" id="2147483653" r:id="Rac2c2a453c77433f"/>
    <p:sldLayoutId xmlns:r="http://schemas.openxmlformats.org/officeDocument/2006/relationships" id="2147483654" r:id="R2aafd7eb91464f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09a44bbf6d4982" /><Relationship Type="http://schemas.openxmlformats.org/officeDocument/2006/relationships/notesSlide" Target="/ppt/notesSlides/notesSlide1.xml" Id="Rd3c57f949f9347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e1abb2732b4301" /><Relationship Type="http://schemas.openxmlformats.org/officeDocument/2006/relationships/notesSlide" Target="/ppt/notesSlides/notesSlide2.xml" Id="R5662946bd4314b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90b10960eb49b5" /><Relationship Type="http://schemas.openxmlformats.org/officeDocument/2006/relationships/notesSlide" Target="/ppt/notesSlides/notesSlide3.xml" Id="R40313e4a55eb45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46ae22bcd94183" /><Relationship Type="http://schemas.openxmlformats.org/officeDocument/2006/relationships/notesSlide" Target="/ppt/notesSlides/notesSlide4.xml" Id="R6e8bfdc422894a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46fbbf63744706" /><Relationship Type="http://schemas.openxmlformats.org/officeDocument/2006/relationships/notesSlide" Target="/ppt/notesSlides/notesSlide5.xml" Id="R913850df504f4e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db9ab128384906" /><Relationship Type="http://schemas.openxmlformats.org/officeDocument/2006/relationships/notesSlide" Target="/ppt/notesSlides/notesSlide6.xml" Id="R64faf6e5abbd48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896ca6b4404de2" /><Relationship Type="http://schemas.openxmlformats.org/officeDocument/2006/relationships/notesSlide" Target="/ppt/notesSlides/notesSlide7.xml" Id="R006656416e1f43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a8015bb46f4b7c" /><Relationship Type="http://schemas.openxmlformats.org/officeDocument/2006/relationships/notesSlide" Target="/ppt/notesSlides/notesSlide8.xml" Id="Rc20a3654449349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7073578a9c4226" /><Relationship Type="http://schemas.openxmlformats.org/officeDocument/2006/relationships/notesSlide" Target="/ppt/notesSlides/notesSlide9.xml" Id="R4b23dc46a35f40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1edcff22ca4dc0" /><Relationship Type="http://schemas.openxmlformats.org/officeDocument/2006/relationships/notesSlide" Target="/ppt/notesSlides/notesSlide10.xml" Id="R313e91b1fcff44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20841-14FA-46A5-B248-53221F6C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最新会议纪要及 RSI 补充材料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E7628-4B52-4CE6-B63C-BA6D313C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AI 评估与进化系统规划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D0AA5-2078-4CAB-A9FE-2A3D03A1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6847C-3432-485C-927D-2064C6E0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0572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75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975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75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先建立评估能力</a:t>
            </a:r>
          </a:p>
          <a:p xmlns:a="http://schemas.openxmlformats.org/drawingml/2006/main">
            <a:pPr>
              <a:defRPr sz="3975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75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再接通可继承的优化闭环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84553-4243-491E-821F-482A194D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2026 年 10 月 10 日  15:30–16:03</a:t>
            </a:r>
          </a:p>
          <a:p xmlns:a="http://schemas.openxmlformats.org/drawingml/2006/main">
            <a:pPr>
              <a:defRPr sz="18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徐仁禄、朱哲  ·  内部项目汇报</a:t>
            </a:r>
          </a:p>
        </p:txBody>
      </p:sp>
    </p:spTree>
    <p:extLst>
      <p:ext uri="{BB962C8B-B14F-4D97-AF65-F5344CB8AC3E}">
        <p14:creationId xmlns:p14="http://schemas.microsoft.com/office/powerpoint/2010/main" val="16499998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A9E32-811B-4D0A-9B73-3AA3B577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会议共识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EE105-BB4D-4655-B06A-A3B4BDEC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会议明确的项目方向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388E3-9A3A-4482-A561-8F7CDEC8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55265-2A64-4AA1-9FCA-2AFF8DA9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rPr>
              <a:t>先做内部评估后台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40B22-0484-44DF-A270-C879EA53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33600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建立 API 化管理能力，为智能体与中小模型提供评估。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52B5C-FBED-40C9-8503-88314580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242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rPr>
              <a:t>以图片场景切入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34F6C-076E-4330-899C-581E3680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24225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优先考虑换装、美妆等图片应用，降低初期验证成本。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1F2AF-CD06-4A1C-A5CD-86ECBE88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rPr>
              <a:t>逐步接通 AutoDev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C0757-1DF7-489B-B8D7-EEDCFC89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514850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依据评分优化 Prompt 或 Skill，再探索模型训练链路。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2478D-2DFF-465C-B0A7-749D940E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当前为项目规划，会议纪要没有提供已完成的效果验证结果。</a:t>
            </a:r>
          </a:p>
        </p:txBody>
      </p:sp>
    </p:spTree>
    <p:extLst>
      <p:ext uri="{BB962C8B-B14F-4D97-AF65-F5344CB8AC3E}">
        <p14:creationId xmlns:p14="http://schemas.microsoft.com/office/powerpoint/2010/main" val="2211330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44008-B5B1-4FAD-AD17-E9B00D0B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模块设计 · 会议方向与补充材料相结合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36B50-43C5-454C-BDD6-401FA972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评估系统与进化系统的分工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CC788-1EE5-47EC-BDFA-131B7667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4D741-5DB7-430A-9132-27EC3578406F}"/>
              </a:ext>
            </a:extLst>
          </p:cNvPr>
          <p:cNvGraphicFramePr/>
          <p:nvPr/>
        </p:nvGraphicFramePr>
        <p:xfrm>
          <a:off xmlns:a="http://schemas.openxmlformats.org/drawingml/2006/main" x="666750" y="2076450"/>
          <a:ext xmlns:a="http://schemas.openxmlformats.org/drawingml/2006/main" cx="10763250" cy="3495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762500"/>
                <a:gridCol w="4000500"/>
              </a:tblGrid>
              <a:tr h="87391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模块</a:t>
                      </a:r>
                    </a:p>
                  </a:txBody>
                  <a:tcPr marL="152400" marR="152400" marT="133350" marB="133350">
                    <a:solidFill>
                      <a:srgbClr val="17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核心职责</a:t>
                      </a:r>
                    </a:p>
                  </a:txBody>
                  <a:tcPr marL="152400" marR="152400" marT="133350" marB="133350">
                    <a:solidFill>
                      <a:srgbClr val="17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输出</a:t>
                      </a:r>
                    </a:p>
                  </a:txBody>
                  <a:tcPr marL="152400" marR="152400" marT="133350" marB="133350">
                    <a:solidFill>
                      <a:srgbClr val="172C40"/>
                    </a:solidFill>
                  </a:tcPr>
                </a:tc>
              </a:tr>
              <a:tr h="87391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评估系统</a:t>
                      </a:r>
                    </a:p>
                  </a:txBody>
                  <a:tcPr marL="152400" marR="152400" marT="133350" marB="13335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执行任务、自动打分</a:t>
                      </a:r>
                    </a:p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结合少量人工标注</a:t>
                      </a:r>
                    </a:p>
                  </a:txBody>
                  <a:tcPr marL="152400" marR="152400" marT="133350" marB="13335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评分、证据与成本记录</a:t>
                      </a:r>
                    </a:p>
                  </a:txBody>
                  <a:tcPr marL="152400" marR="152400" marT="133350" marB="133350">
                    <a:solidFill>
                      <a:srgbClr val="F5F3ED"/>
                    </a:solidFill>
                  </a:tcPr>
                </a:tc>
              </a:tr>
              <a:tr h="87391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进化系统</a:t>
                      </a:r>
                    </a:p>
                  </a:txBody>
                  <a:tcPr marL="152400" marR="152400" marT="133350" marB="13335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产生候选改动</a:t>
                      </a:r>
                    </a:p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依据证据决定是否接受</a:t>
                      </a:r>
                    </a:p>
                  </a:txBody>
                  <a:tcPr marL="152400" marR="152400" marT="133350" marB="13335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已接受的新版本</a:t>
                      </a:r>
                    </a:p>
                  </a:txBody>
                  <a:tcPr marL="152400" marR="152400" marT="133350" marB="133350">
                    <a:solidFill>
                      <a:srgbClr val="F5F3ED"/>
                    </a:solidFill>
                  </a:tcPr>
                </a:tc>
              </a:tr>
              <a:tr h="87391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联动与继承</a:t>
                      </a:r>
                    </a:p>
                  </a:txBody>
                  <a:tcPr marL="152400" marR="152400" marT="133350" marB="13335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接入 AutoDev</a:t>
                      </a:r>
                    </a:p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保存并在下一轮加载</a:t>
                      </a:r>
                    </a:p>
                  </a:txBody>
                  <a:tcPr marL="152400" marR="152400" marT="133350" marB="13335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版本、加载与回滚记录</a:t>
                      </a:r>
                    </a:p>
                  </a:txBody>
                  <a:tcPr marL="152400" marR="152400" marT="133350" marB="133350">
                    <a:solidFill>
                      <a:srgbClr val="F5F3ED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1F955-0999-449A-988D-20FBFD5F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rPr>
              <a:t>第一阶段聚焦评估，后续阶段逐步建立优化与状态继承能力。</a:t>
            </a:r>
          </a:p>
        </p:txBody>
      </p:sp>
    </p:spTree>
    <p:extLst>
      <p:ext uri="{BB962C8B-B14F-4D97-AF65-F5344CB8AC3E}">
        <p14:creationId xmlns:p14="http://schemas.microsoft.com/office/powerpoint/2010/main" val="18688645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38946-0D6E-42F8-8B35-A3E48D14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会议共识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73FD8-48F3-4638-A373-C02895F0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评估方式按任务类型选择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A4D12-DCD7-45EC-ADA1-A65BAE49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5C32B-FD12-4BC4-A68E-209B0069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240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rPr>
              <a:t>编程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8FC36-C671-4D79-B5A4-66FBF5FE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24075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采用 SWE-bench 等基准，评估任务完成情况。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CA479-B923-492E-B75A-C88C9C67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rPr>
              <a:t>图片生成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0C436-8130-4F52-B773-01202304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14700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检查结构错误、内容安全与美观度，多模态模型辅助打分。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6268B-7D5B-45A4-9253-60484082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053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rPr>
              <a:t>人工校验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EF79A-02AE-43C5-BD7A-54EF0152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505325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保留少量人工标注与审查，核对自动评分是否可靠。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BC7B6-4EB1-47B1-B914-B49C246E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图片评分规则、数据集和合格阈值仍需明确。不同任务不宜共用单一总分。</a:t>
            </a:r>
          </a:p>
        </p:txBody>
      </p:sp>
    </p:spTree>
    <p:extLst>
      <p:ext uri="{BB962C8B-B14F-4D97-AF65-F5344CB8AC3E}">
        <p14:creationId xmlns:p14="http://schemas.microsoft.com/office/powerpoint/2010/main" val="2523358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27F79-37D3-4077-B642-5931F7F2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会议共识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2461F-020A-4604-A4B4-500972D9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初期落地场景与后续探索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B477D-C773-4656-8AC0-D5251753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4AB1E-C879-40FA-9169-5CC0AD138139}"/>
              </a:ext>
            </a:extLst>
          </p:cNvPr>
          <p:cNvGraphicFramePr/>
          <p:nvPr/>
        </p:nvGraphicFramePr>
        <p:xfrm>
          <a:off xmlns:a="http://schemas.openxmlformats.org/drawingml/2006/main" x="666750" y="2076450"/>
          <a:ext xmlns:a="http://schemas.openxmlformats.org/drawingml/2006/main" cx="1076325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000500"/>
                <a:gridCol w="4667250"/>
              </a:tblGrid>
              <a:tr h="876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方向</a:t>
                      </a:r>
                    </a:p>
                  </a:txBody>
                  <a:tcPr marL="152400" marR="152400" marT="133350" marB="133350">
                    <a:solidFill>
                      <a:srgbClr val="17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会议建议</a:t>
                      </a:r>
                    </a:p>
                  </a:txBody>
                  <a:tcPr marL="152400" marR="152400" marT="133350" marB="133350">
                    <a:solidFill>
                      <a:srgbClr val="17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选择理由</a:t>
                      </a:r>
                    </a:p>
                  </a:txBody>
                  <a:tcPr marL="152400" marR="152400" marT="133350" marB="133350">
                    <a:solidFill>
                      <a:srgbClr val="172C40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图片应用</a:t>
                      </a:r>
                    </a:p>
                  </a:txBody>
                  <a:tcPr marL="152400" marR="152400" marT="133350" marB="13335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优先考虑电商换装、美妆特效</a:t>
                      </a:r>
                    </a:p>
                  </a:txBody>
                  <a:tcPr marL="152400" marR="152400" marT="133350" marB="13335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需求明确，较易自动评估</a:t>
                      </a:r>
                    </a:p>
                  </a:txBody>
                  <a:tcPr marL="152400" marR="152400" marT="133350" marB="133350">
                    <a:solidFill>
                      <a:srgbClr val="F5F3ED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视频与长文本</a:t>
                      </a:r>
                    </a:p>
                  </a:txBody>
                  <a:tcPr marL="152400" marR="152400" marT="133350" marB="13335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暂缓作为初期核心场景</a:t>
                      </a:r>
                    </a:p>
                  </a:txBody>
                  <a:tcPr marL="152400" marR="152400" marT="133350" marB="13335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变量多、主观性强、验证成本高</a:t>
                      </a:r>
                    </a:p>
                  </a:txBody>
                  <a:tcPr marL="152400" marR="152400" marT="133350" marB="133350">
                    <a:solidFill>
                      <a:srgbClr val="F5F3ED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决策引擎</a:t>
                      </a:r>
                    </a:p>
                  </a:txBody>
                  <a:tcPr marL="152400" marR="152400" marT="133350" marB="13335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后续探索 IoT、工控等场景</a:t>
                      </a:r>
                    </a:p>
                  </a:txBody>
                  <a:tcPr marL="152400" marR="152400" marT="133350" marB="13335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针对高频需求持续训练与反馈</a:t>
                      </a:r>
                    </a:p>
                  </a:txBody>
                  <a:tcPr marL="152400" marR="152400" marT="133350" marB="133350">
                    <a:solidFill>
                      <a:srgbClr val="F5F3ED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53DAC-D416-48F5-BBD6-EE8D6447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具体试点场景及模型规模尚待确认。</a:t>
            </a:r>
          </a:p>
        </p:txBody>
      </p:sp>
    </p:spTree>
    <p:extLst>
      <p:ext uri="{BB962C8B-B14F-4D97-AF65-F5344CB8AC3E}">
        <p14:creationId xmlns:p14="http://schemas.microsoft.com/office/powerpoint/2010/main" val="17267107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F6321-5B98-47A2-AD1F-3A070E5F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补充材料 · 概念说明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8EE58-F343-4364-873C-E323D6DB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RSI 的关键是验证、保留与继承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A2346-9267-4906-B468-3F70C56D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95CC9-7E48-47FD-9136-C87299AA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106680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75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rPr>
              <a:t>下一轮必须实际用上</a:t>
            </a:r>
          </a:p>
          <a:p xmlns:a="http://schemas.openxmlformats.org/drawingml/2006/main">
            <a:pPr>
              <a:defRPr sz="3675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75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rPr>
              <a:t>已接受的改进状态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F214E-E1B1-4694-854F-0B02EDE2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671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rPr>
              <a:t>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A8CEA-A0F0-40AD-AE7D-C35CE55E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067175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与基线比较，确认质量改善并记录代价。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94F48-B416-4B5C-9DDB-1D1B74F5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rPr>
              <a:t>继承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827D3-87A7-4BAE-A2C6-9B267579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086350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保存 Prompt、Skill 或工作流的新版本，下一轮加载它。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6E29A-C2F5-4172-86F3-33CD5453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86475"/>
            <a:ext cx="1057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状态继承不保证每轮分数上涨，也不证明长期自主改进必然加速。</a:t>
            </a:r>
          </a:p>
        </p:txBody>
      </p:sp>
    </p:spTree>
    <p:extLst>
      <p:ext uri="{BB962C8B-B14F-4D97-AF65-F5344CB8AC3E}">
        <p14:creationId xmlns:p14="http://schemas.microsoft.com/office/powerpoint/2010/main" val="581890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ECABB8-2722-4473-8612-F0C4A444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补充材料 · 工程解读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B70ED-BDB4-4ECA-9008-9DA67DA4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一次可信改进的六个环节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CFEB4-05B7-4DFC-9036-65491318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DC4BE-DDF0-40AB-A92C-401B16EA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6925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rPr>
              <a:t>01  选择目标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0398C-B4C9-4F8F-85B0-D13032D4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66925"/>
            <a:ext cx="733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明确修改对象、边界与成功条件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111F6-2AC1-4BEA-B535-FFE8C607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rPr>
              <a:t>02  生成候选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A9E0B-B9C3-407E-9201-0451867F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733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提出 Prompt、Skill 或工作流改动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A5D8A-7DF3-406F-A16D-F10692C9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rPr>
              <a:t>03  环境执行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CDA08-B8D0-44E1-A59C-1582FA89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67075"/>
            <a:ext cx="733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在可记录、可重放的环境中运行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1F23C-C053-4AFF-9751-89B4091F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rPr>
              <a:t>04  验证结果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041B0-AEAF-4FF2-A758-90488F20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67150"/>
            <a:ext cx="733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对比基线、留出任务与资源成本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13D8C-0CF7-42EF-876A-3B254709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7225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rPr>
              <a:t>05  决定更新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B2987-4158-40E5-97A8-6133C75C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67225"/>
            <a:ext cx="733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满足质量与权限条件后接受改动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316242-4446-493B-9BDA-92C329D7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rPr>
              <a:t>06  保存继承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35097A-9F35-4D79-9AD4-D2393A2F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67300"/>
            <a:ext cx="733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版本化保存，并验证下一轮实际加载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6D9B84-9689-48C1-A477-8B359F86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证据不足时拒绝或修订候选，更新后发现退化时追踪并回滚。</a:t>
            </a:r>
          </a:p>
        </p:txBody>
      </p:sp>
    </p:spTree>
    <p:extLst>
      <p:ext uri="{BB962C8B-B14F-4D97-AF65-F5344CB8AC3E}">
        <p14:creationId xmlns:p14="http://schemas.microsoft.com/office/powerpoint/2010/main" val="21072259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EEFCE-2AF0-43FC-A65B-969FE490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会议方向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834C5-7036-4DAC-83F8-9FF1D59C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商业路径与能力边界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F53BB-A65D-4D47-B308-D9D63286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F55A3-53C6-4726-BF99-3AA89560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rPr>
              <a:t>AutoDev 生成与优化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E4A6C-9CAF-415F-A38E-EF2F1AF8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33600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评估系统持续反馈，提升 Agent 在特定任务上的效果。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0CCCA-1D8C-4CA4-A211-97C810B8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rPr>
              <a:t>TokenHub 对外服务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0D95F-3CC8-4CFF-B78B-671CA9F6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33750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将高质量 Agent 封装为 API 服务，探索按次收费。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A281A-CF21-4121-89D3-1026C2A7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rPr>
              <a:t>中小模型决策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EF6675-8227-4AAC-AF19-C649D520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533900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面向特定企业与场景利用反馈训练，追求快速响应。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8E9F52-CBEC-45E6-9C6E-406875D5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Agent as Model 是会议提出的服务模式，收费规则与商业验证尚待细化。</a:t>
            </a:r>
          </a:p>
        </p:txBody>
      </p:sp>
    </p:spTree>
    <p:extLst>
      <p:ext uri="{BB962C8B-B14F-4D97-AF65-F5344CB8AC3E}">
        <p14:creationId xmlns:p14="http://schemas.microsoft.com/office/powerpoint/2010/main" val="536163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F6374-1C2B-4929-99FD-F3B0E733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会议计划 · 后两个月为整理后的阶段拆分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D1544-870D-4A68-9EE2-CEF0EA54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三个月推进计划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D3775-3020-4AA9-B845-08BA5A11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5F400-3EB2-42A4-AB85-3F6DBA223AED}"/>
              </a:ext>
            </a:extLst>
          </p:cNvPr>
          <p:cNvGraphicFramePr/>
          <p:nvPr/>
        </p:nvGraphicFramePr>
        <p:xfrm>
          <a:off xmlns:a="http://schemas.openxmlformats.org/drawingml/2006/main" x="666750" y="2076450"/>
          <a:ext xmlns:a="http://schemas.openxmlformats.org/drawingml/2006/main" cx="1076325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572000"/>
                <a:gridCol w="4000500"/>
              </a:tblGrid>
              <a:tr h="8667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阶段</a:t>
                      </a:r>
                    </a:p>
                  </a:txBody>
                  <a:tcPr marL="152400" marR="152400" marT="133350" marB="133350">
                    <a:solidFill>
                      <a:srgbClr val="17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工作重点</a:t>
                      </a:r>
                    </a:p>
                  </a:txBody>
                  <a:tcPr marL="152400" marR="152400" marT="133350" marB="133350">
                    <a:solidFill>
                      <a:srgbClr val="17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阶段产出</a:t>
                      </a:r>
                    </a:p>
                  </a:txBody>
                  <a:tcPr marL="152400" marR="152400" marT="133350" marB="133350">
                    <a:solidFill>
                      <a:srgbClr val="172C40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 1 月</a:t>
                      </a:r>
                    </a:p>
                  </a:txBody>
                  <a:tcPr marL="152400" marR="152400" marT="133350" marB="13335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搭建评估框架</a:t>
                      </a:r>
                    </a:p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实现 API 化管理后台</a:t>
                      </a:r>
                    </a:p>
                  </a:txBody>
                  <a:tcPr marL="152400" marR="152400" marT="133350" marB="13335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可运行的内部评估能力</a:t>
                      </a:r>
                    </a:p>
                  </a:txBody>
                  <a:tcPr marL="152400" marR="152400" marT="133350" marB="133350">
                    <a:solidFill>
                      <a:srgbClr val="F5F3ED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 2 月（建议）</a:t>
                      </a:r>
                    </a:p>
                  </a:txBody>
                  <a:tcPr marL="152400" marR="152400" marT="133350" marB="13335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联动 AutoDev</a:t>
                      </a:r>
                    </a:p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接通评分与候选优化</a:t>
                      </a:r>
                    </a:p>
                  </a:txBody>
                  <a:tcPr marL="152400" marR="152400" marT="133350" marB="13335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联调流程与评估记录</a:t>
                      </a:r>
                    </a:p>
                  </a:txBody>
                  <a:tcPr marL="152400" marR="152400" marT="133350" marB="133350">
                    <a:solidFill>
                      <a:srgbClr val="F5F3ED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 3 月（建议）</a:t>
                      </a:r>
                    </a:p>
                  </a:txBody>
                  <a:tcPr marL="152400" marR="152400" marT="133350" marB="13335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完善保存、加载与回退</a:t>
                      </a:r>
                    </a:p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在试点场景验证闭环</a:t>
                      </a:r>
                    </a:p>
                  </a:txBody>
                  <a:tcPr marL="152400" marR="152400" marT="133350" marB="13335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C4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可复查的闭环证据</a:t>
                      </a:r>
                    </a:p>
                  </a:txBody>
                  <a:tcPr marL="152400" marR="152400" marT="133350" marB="133350">
                    <a:solidFill>
                      <a:srgbClr val="F5F3ED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5C7E6-8D0C-4C19-B72D-62FD9066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官网需求与 TokenHub 维护优先，RSI 利用空闲时间推进。需协调算法资源。</a:t>
            </a:r>
          </a:p>
        </p:txBody>
      </p:sp>
    </p:spTree>
    <p:extLst>
      <p:ext uri="{BB962C8B-B14F-4D97-AF65-F5344CB8AC3E}">
        <p14:creationId xmlns:p14="http://schemas.microsoft.com/office/powerpoint/2010/main" val="5514049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E4CDFC-1430-4015-83EF-4029F75A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会议交付要求及补充材料建议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4DE40-0531-4B0C-87BD-1D88D0E8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下一步工作与待确认事项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B448E-C1D0-4ED2-9082-E7194A76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68E53-E54D-4E2A-961F-A8C8B434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69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rPr>
              <a:t>会议要求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DF3DF-0BFE-4B89-B743-B7291FBA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66925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整理需求文档与汇报材料，明确评估系统和进化系统设计。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B09A8-4C81-4492-878B-F10FF7CC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rPr>
              <a:t>实施前需确认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077EE-BF07-4CE8-AB03-69B03AFE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81350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试点场景、各模块负责人、具体排期与算法团队支持。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9A5C2-A689-4B10-90C5-C535249F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rPr>
              <a:t>建议补充验收依据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39128-02B4-4815-8160-B9C668B9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95775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2C40"/>
                </a:solidFill>
                <a:latin typeface="Arial Unicode MS"/>
                <a:ea typeface="Arial Unicode MS"/>
                <a:cs typeface="Arial Unicode MS"/>
              </a:rPr>
              <a:t>固定基线与留出任务，记录质量、成本、版本加载和回滚。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71D2F-CA9F-4C89-9497-5F7FAE47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5307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36C77"/>
                </a:solidFill>
                <a:latin typeface="Arial Unicode MS"/>
                <a:ea typeface="Arial Unicode MS"/>
                <a:cs typeface="Arial Unicode MS"/>
              </a:rPr>
              <a:t>评分提升需要独立证据。运行成功或写入新版本，不能单独证明改进成立。</a:t>
            </a:r>
          </a:p>
        </p:txBody>
      </p:sp>
    </p:spTree>
    <p:extLst>
      <p:ext uri="{BB962C8B-B14F-4D97-AF65-F5344CB8AC3E}">
        <p14:creationId xmlns:p14="http://schemas.microsoft.com/office/powerpoint/2010/main" val="5182908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2026-10-10T08:29:43.6080000Z</dcterms:created>
  <dcterms:modified xsi:type="dcterms:W3CDTF">2026-10-10T08:29:43.6080000Z</dcterms:modified>
</coreProperties>
</file>