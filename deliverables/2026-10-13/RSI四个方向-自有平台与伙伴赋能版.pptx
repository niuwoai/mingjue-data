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1de9c75d3f4b95" /><Relationship Type="http://schemas.openxmlformats.org/officeDocument/2006/relationships/extended-properties" Target="/docProps/app.xml" Id="Rbc9698cf8f964625" /><Relationship Type="http://schemas.openxmlformats.org/officeDocument/2006/relationships/officeDocument" Target="/ppt/presentation.xml" Id="R92fae171a2f0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290d03de574df8"/>
  </p:sldMasterIdLst>
  <p:notesMasterIdLst>
    <p:notesMasterId xmlns:r="http://schemas.openxmlformats.org/officeDocument/2006/relationships" r:id="R92081d65bf43460f"/>
  </p:notesMasterIdLst>
  <p:sldIdLst>
    <p:sldId xmlns:r="http://schemas.openxmlformats.org/officeDocument/2006/relationships" id="256" r:id="R29d1f71fbfe84fb5"/>
    <p:sldId xmlns:r="http://schemas.openxmlformats.org/officeDocument/2006/relationships" id="257" r:id="R059415f528294cc1"/>
    <p:sldId xmlns:r="http://schemas.openxmlformats.org/officeDocument/2006/relationships" id="258" r:id="R9aabac8935834b80"/>
    <p:sldId xmlns:r="http://schemas.openxmlformats.org/officeDocument/2006/relationships" id="259" r:id="R801fd0e279d944cc"/>
    <p:sldId xmlns:r="http://schemas.openxmlformats.org/officeDocument/2006/relationships" id="260" r:id="R50c08e9b1a7a4077"/>
    <p:sldId xmlns:r="http://schemas.openxmlformats.org/officeDocument/2006/relationships" id="261" r:id="Rf9fd1f0e1191405d"/>
    <p:sldId xmlns:r="http://schemas.openxmlformats.org/officeDocument/2006/relationships" id="262" r:id="Rc5a4ff480a324ce5"/>
    <p:sldId xmlns:r="http://schemas.openxmlformats.org/officeDocument/2006/relationships" id="263" r:id="Rb068127b23014ade"/>
    <p:sldId xmlns:r="http://schemas.openxmlformats.org/officeDocument/2006/relationships" id="264" r:id="R4d300a9a51bc4aef"/>
    <p:sldId xmlns:r="http://schemas.openxmlformats.org/officeDocument/2006/relationships" id="265" r:id="R9ebce93d64a54214"/>
    <p:sldId xmlns:r="http://schemas.openxmlformats.org/officeDocument/2006/relationships" id="266" r:id="R2e023bf5f5884ab6"/>
    <p:sldId xmlns:r="http://schemas.openxmlformats.org/officeDocument/2006/relationships" id="267" r:id="Rc4deacc7a6bc4375"/>
    <p:sldId xmlns:r="http://schemas.openxmlformats.org/officeDocument/2006/relationships" id="268" r:id="Rd6d0174811784553"/>
    <p:sldId xmlns:r="http://schemas.openxmlformats.org/officeDocument/2006/relationships" id="269" r:id="R3085acf5f5fc447c"/>
    <p:sldId xmlns:r="http://schemas.openxmlformats.org/officeDocument/2006/relationships" id="270" r:id="R62ed8696eae24339"/>
    <p:sldId xmlns:r="http://schemas.openxmlformats.org/officeDocument/2006/relationships" id="271" r:id="R6fd8ac7c5be64429"/>
    <p:sldId xmlns:r="http://schemas.openxmlformats.org/officeDocument/2006/relationships" id="272" r:id="Rbd7eb722e6454ec8"/>
    <p:sldId xmlns:r="http://schemas.openxmlformats.org/officeDocument/2006/relationships" id="273" r:id="Rc3d5195cd2cb4f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5a25ab70f54e1d" /><Relationship Type="http://schemas.openxmlformats.org/officeDocument/2006/relationships/slideMaster" Target="/ppt/slideMasters/slideMaster1.xml" Id="Rc2290d03de574df8" /><Relationship Type="http://schemas.openxmlformats.org/officeDocument/2006/relationships/notesMaster" Target="/ppt/notesMasters/notesMaster1.xml" Id="R92081d65bf43460f" /><Relationship Type="http://schemas.openxmlformats.org/officeDocument/2006/relationships/presProps" Target="/ppt/presProps.xml" Id="Re7885ba56f354dba" /><Relationship Type="http://schemas.openxmlformats.org/officeDocument/2006/relationships/tableStyles" Target="/ppt/tableStyles.xml" Id="R4fcb35d4028846a7" /><Relationship Type="http://schemas.openxmlformats.org/officeDocument/2006/relationships/slide" Target="/ppt/slides/slide1.xml" Id="R29d1f71fbfe84fb5" /><Relationship Type="http://schemas.openxmlformats.org/officeDocument/2006/relationships/slide" Target="/ppt/slides/slide2.xml" Id="R059415f528294cc1" /><Relationship Type="http://schemas.openxmlformats.org/officeDocument/2006/relationships/slide" Target="/ppt/slides/slide3.xml" Id="R9aabac8935834b80" /><Relationship Type="http://schemas.openxmlformats.org/officeDocument/2006/relationships/slide" Target="/ppt/slides/slide4.xml" Id="R801fd0e279d944cc" /><Relationship Type="http://schemas.openxmlformats.org/officeDocument/2006/relationships/slide" Target="/ppt/slides/slide5.xml" Id="R50c08e9b1a7a4077" /><Relationship Type="http://schemas.openxmlformats.org/officeDocument/2006/relationships/slide" Target="/ppt/slides/slide6.xml" Id="Rf9fd1f0e1191405d" /><Relationship Type="http://schemas.openxmlformats.org/officeDocument/2006/relationships/slide" Target="/ppt/slides/slide7.xml" Id="Rc5a4ff480a324ce5" /><Relationship Type="http://schemas.openxmlformats.org/officeDocument/2006/relationships/slide" Target="/ppt/slides/slide8.xml" Id="Rb068127b23014ade" /><Relationship Type="http://schemas.openxmlformats.org/officeDocument/2006/relationships/slide" Target="/ppt/slides/slide9.xml" Id="R4d300a9a51bc4aef" /><Relationship Type="http://schemas.openxmlformats.org/officeDocument/2006/relationships/slide" Target="/ppt/slides/slide10.xml" Id="R9ebce93d64a54214" /><Relationship Type="http://schemas.openxmlformats.org/officeDocument/2006/relationships/slide" Target="/ppt/slides/slide11.xml" Id="R2e023bf5f5884ab6" /><Relationship Type="http://schemas.openxmlformats.org/officeDocument/2006/relationships/slide" Target="/ppt/slides/slide12.xml" Id="Rc4deacc7a6bc4375" /><Relationship Type="http://schemas.openxmlformats.org/officeDocument/2006/relationships/slide" Target="/ppt/slides/slide13.xml" Id="Rd6d0174811784553" /><Relationship Type="http://schemas.openxmlformats.org/officeDocument/2006/relationships/slide" Target="/ppt/slides/slide14.xml" Id="R3085acf5f5fc447c" /><Relationship Type="http://schemas.openxmlformats.org/officeDocument/2006/relationships/slide" Target="/ppt/slides/slide15.xml" Id="R62ed8696eae24339" /><Relationship Type="http://schemas.openxmlformats.org/officeDocument/2006/relationships/slide" Target="/ppt/slides/slide16.xml" Id="R6fd8ac7c5be64429" /><Relationship Type="http://schemas.openxmlformats.org/officeDocument/2006/relationships/slide" Target="/ppt/slides/slide17.xml" Id="Rbd7eb722e6454ec8" /><Relationship Type="http://schemas.openxmlformats.org/officeDocument/2006/relationships/slide" Target="/ppt/slides/slide18.xml" Id="Rc3d5195cd2cb4f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1efa9f658f40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e1e8223d44523" /><Relationship Type="http://schemas.openxmlformats.org/officeDocument/2006/relationships/notesMaster" Target="/ppt/notesMasters/notesMaster1.xml" Id="R9398c7a1c3f54a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66b45ec9b24e5a" /><Relationship Type="http://schemas.openxmlformats.org/officeDocument/2006/relationships/notesMaster" Target="/ppt/notesMasters/notesMaster1.xml" Id="Rf963efddf331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9fee760664564" /><Relationship Type="http://schemas.openxmlformats.org/officeDocument/2006/relationships/notesMaster" Target="/ppt/notesMasters/notesMaster1.xml" Id="R27ea630529f8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c4c8d8b7d04da9" /><Relationship Type="http://schemas.openxmlformats.org/officeDocument/2006/relationships/notesMaster" Target="/ppt/notesMasters/notesMaster1.xml" Id="Rba6f907553154f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934754cf0c490e" /><Relationship Type="http://schemas.openxmlformats.org/officeDocument/2006/relationships/notesMaster" Target="/ppt/notesMasters/notesMaster1.xml" Id="R8bd50b877efa4f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fac1676dad42c7" /><Relationship Type="http://schemas.openxmlformats.org/officeDocument/2006/relationships/notesMaster" Target="/ppt/notesMasters/notesMaster1.xml" Id="R72f276563a274a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8ce32fc0234e56" /><Relationship Type="http://schemas.openxmlformats.org/officeDocument/2006/relationships/notesMaster" Target="/ppt/notesMasters/notesMaster1.xml" Id="R28e311c6e96a4b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01c73fc3054f97" /><Relationship Type="http://schemas.openxmlformats.org/officeDocument/2006/relationships/notesMaster" Target="/ppt/notesMasters/notesMaster1.xml" Id="R5d359d163a1d43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b6638f01f34b68" /><Relationship Type="http://schemas.openxmlformats.org/officeDocument/2006/relationships/notesMaster" Target="/ppt/notesMasters/notesMaster1.xml" Id="R6c02a7b66de748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754fcbd1b043ac" /><Relationship Type="http://schemas.openxmlformats.org/officeDocument/2006/relationships/notesMaster" Target="/ppt/notesMasters/notesMaster1.xml" Id="Rdd6f36ebda6048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9a228ed9f04989" /><Relationship Type="http://schemas.openxmlformats.org/officeDocument/2006/relationships/notesMaster" Target="/ppt/notesMasters/notesMaster1.xml" Id="Rd0e7aa8491ce47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9ff31d4e5941da" /><Relationship Type="http://schemas.openxmlformats.org/officeDocument/2006/relationships/notesMaster" Target="/ppt/notesMasters/notesMaster1.xml" Id="Rb395a1f19b2c4f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2bf3af08844b51" /><Relationship Type="http://schemas.openxmlformats.org/officeDocument/2006/relationships/notesMaster" Target="/ppt/notesMasters/notesMaster1.xml" Id="Rbd6788abe74243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2c1708218a4e3a" /><Relationship Type="http://schemas.openxmlformats.org/officeDocument/2006/relationships/notesMaster" Target="/ppt/notesMasters/notesMaster1.xml" Id="R5732139c8fa64e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68c8cce63a4900" /><Relationship Type="http://schemas.openxmlformats.org/officeDocument/2006/relationships/notesMaster" Target="/ppt/notesMasters/notesMaster1.xml" Id="Raebd8519a0c74b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8935b34bf04457" /><Relationship Type="http://schemas.openxmlformats.org/officeDocument/2006/relationships/notesMaster" Target="/ppt/notesMasters/notesMaster1.xml" Id="Ra3f4d758183b4c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af6f7646fd4a30" /><Relationship Type="http://schemas.openxmlformats.org/officeDocument/2006/relationships/notesMaster" Target="/ppt/notesMasters/notesMaster1.xml" Id="Rdce6d12b586f4d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27d069c5664871" /><Relationship Type="http://schemas.openxmlformats.org/officeDocument/2006/relationships/notesMaster" Target="/ppt/notesMasters/notesMaster1.xml" Id="R9732fc7b767145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统一使用AutoDev作为研发方向名称。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有平台优先安排内部研发投入。AutoDev需可重放任务和配置接口，TokenHub需质量标签与完整成本。报表和图片由伙伴负责业务落地；我们提供可复用Skill、接口、评估和问题支持。伙伴数据与标准成熟时，赋能试点可并行提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测试通过仅证明测试覆盖的条件。独立任务组配对比较，记录资源和不确定结果。不得自动修改生产权限或任意代码。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成功率提升5个百分点为建议目标，同时任务组配对95%差异区间下界&gt;0。样本不足时扩大独立任务。成本与时延上限需根据客户基线约定。没有收益时分别报告平台功能通过和优化收益未通过。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起步可以规则+强模型判断，模型达标后引入自己的decision权重。用户点击与模型自报不能作为金标，拒判不算正确预测。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自动继续覆盖率分母为冻结范围内有效且有金标的样本，另报全部请求覆盖率。风险为自动继续中的错误放行。95%上界须满足门槛，相关样本按group bootstrap。保持与强模型全量基线相同的质量底线，质量与成本必须在同条件下实测。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先只优化审核器，生成器保持固定以利归因。若后续优化报表生成提示词，使用独立审核标准，防止生成器和裁判一起迎合评分。数字必须对照冻结源数据。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数值为建议。数字/口径检查100%仅覆盖约定指标与测试案例，不代表任意财务/业务数据。关键语义错误漏检按独立人工金标测量，95%上界&lt;=5%。人工时间在相同质量标准下比较，不能只测模型推理时延。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使用授权素材，不向未授权外部服务发送客户数据。审核器标准在一轮优化内固定，不能仅用同一裁判分数上涨证明合格率提高。线上每任务建议最多两轮重生成，运行预算由伙伴与我们共同确认。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可交付率按全部任务在固定预算内获得至少一张合格图计算，失败任务保留在分母。采用同输入/相同总预算对照并按任务组给区间。误放行以自动通过中的独立人工不合格为分母，按冻结标准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该图为建议架构。独立验证集权限分离；主干API可借用已有需求契约：datasets、evaluation-jobs、validation-jobs、releases、rollback。服务接口需要联调确认，不表示当前四场景已有运行部署。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源自本地Decision MVP需求。金标由独立人工或可靠可执行证据形成。模型开发、校准、锁定测试隔离；概率不能来自模型文字自报。文本决策模型不能直接替代图片视觉审核器；图片需单独视觉模型及其校准。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采用相对月份，实际启动日和人力未定。不是四个方向三个月全部商业发布的承诺。官网/其他产品优先级与资源冲突在立项时确认，不把兼职排期当全职投入。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5ea042c9f4a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4a62775c340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fb86ad35e41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a28997e0c4a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9a9008d764b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bb58041b44e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D3D3AF-B358-4CA3-AB4A-EDBD93248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01850E-3826-4795-8C0E-A0C5E5812F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D39C05-8523-4AE1-80BE-89F75E892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663F81-F765-4045-A26A-E0B2FB31B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17AEA8-9A12-40FC-8F2B-6458CDC8EC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CE1CEC-88FE-4D6C-A9C7-44C9A2F2B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7E9C07-FD42-47C2-B5AC-4453A93B3F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380093-CB6A-4C5D-A14B-A6ECB11AB9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EFDF8-9BAE-4069-914A-F43697D75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66B79-6A88-4B5D-AF18-D6E3FC8197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8edc3f8a04c84" /><Relationship Type="http://schemas.openxmlformats.org/officeDocument/2006/relationships/slideLayout" Target="/ppt/slideLayouts/slideLayout1.xml" Id="R94c7b41919864ac9" /><Relationship Type="http://schemas.openxmlformats.org/officeDocument/2006/relationships/slideLayout" Target="/ppt/slideLayouts/slideLayout2.xml" Id="R72067a46e4b44516" /><Relationship Type="http://schemas.openxmlformats.org/officeDocument/2006/relationships/slideLayout" Target="/ppt/slideLayouts/slideLayout3.xml" Id="R54121e829bcc4ea1" /><Relationship Type="http://schemas.openxmlformats.org/officeDocument/2006/relationships/slideLayout" Target="/ppt/slideLayouts/slideLayout4.xml" Id="Raa0c634ad905480c" /><Relationship Type="http://schemas.openxmlformats.org/officeDocument/2006/relationships/slideLayout" Target="/ppt/slideLayouts/slideLayout5.xml" Id="R511e129a2b8b4702" /><Relationship Type="http://schemas.openxmlformats.org/officeDocument/2006/relationships/slideLayout" Target="/ppt/slideLayouts/slideLayout6.xml" Id="Re359483ba711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c7b41919864ac9"/>
    <p:sldLayoutId xmlns:r="http://schemas.openxmlformats.org/officeDocument/2006/relationships" id="2147483650" r:id="R72067a46e4b44516"/>
    <p:sldLayoutId xmlns:r="http://schemas.openxmlformats.org/officeDocument/2006/relationships" id="2147483651" r:id="R54121e829bcc4ea1"/>
    <p:sldLayoutId xmlns:r="http://schemas.openxmlformats.org/officeDocument/2006/relationships" id="2147483652" r:id="Raa0c634ad905480c"/>
    <p:sldLayoutId xmlns:r="http://schemas.openxmlformats.org/officeDocument/2006/relationships" id="2147483653" r:id="R511e129a2b8b4702"/>
    <p:sldLayoutId xmlns:r="http://schemas.openxmlformats.org/officeDocument/2006/relationships" id="2147483654" r:id="Re359483ba711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8c5a1c4f04f7a" /><Relationship Type="http://schemas.openxmlformats.org/officeDocument/2006/relationships/notesSlide" Target="/ppt/notesSlides/notesSlide1.xml" Id="R56e5b78eba41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22cba9ad64891" /><Relationship Type="http://schemas.openxmlformats.org/officeDocument/2006/relationships/notesSlide" Target="/ppt/notesSlides/notesSlide2.xml" Id="R3e85cbc34974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7a5c1516e4348" /><Relationship Type="http://schemas.openxmlformats.org/officeDocument/2006/relationships/notesSlide" Target="/ppt/notesSlides/notesSlide3.xml" Id="R7268951c6f3448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00942f2864af8" /><Relationship Type="http://schemas.openxmlformats.org/officeDocument/2006/relationships/notesSlide" Target="/ppt/notesSlides/notesSlide4.xml" Id="R31d7114bc64343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884382eb844cd" /><Relationship Type="http://schemas.openxmlformats.org/officeDocument/2006/relationships/notesSlide" Target="/ppt/notesSlides/notesSlide5.xml" Id="R7a7e55869aab4b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abc00c8bd4024" /><Relationship Type="http://schemas.openxmlformats.org/officeDocument/2006/relationships/notesSlide" Target="/ppt/notesSlides/notesSlide6.xml" Id="Rdb92151d47084e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9be2f30084ba7" /><Relationship Type="http://schemas.openxmlformats.org/officeDocument/2006/relationships/notesSlide" Target="/ppt/notesSlides/notesSlide7.xml" Id="Rc92078ed15ad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c42e7b7bd4fbc" /><Relationship Type="http://schemas.openxmlformats.org/officeDocument/2006/relationships/notesSlide" Target="/ppt/notesSlides/notesSlide8.xml" Id="Rdc4a27bb824d4a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c6ae9a1c94609" /><Relationship Type="http://schemas.openxmlformats.org/officeDocument/2006/relationships/notesSlide" Target="/ppt/notesSlides/notesSlide9.xml" Id="Ra55210f75c01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b35fdbe654f8a" /><Relationship Type="http://schemas.openxmlformats.org/officeDocument/2006/relationships/notesSlide" Target="/ppt/notesSlides/notesSlide10.xml" Id="Rdf78ff169e7d48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66abcf29c45a6" /><Relationship Type="http://schemas.openxmlformats.org/officeDocument/2006/relationships/notesSlide" Target="/ppt/notesSlides/notesSlide11.xml" Id="R4db2a4ce0bef49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5c3a52315469e" /><Relationship Type="http://schemas.openxmlformats.org/officeDocument/2006/relationships/notesSlide" Target="/ppt/notesSlides/notesSlide12.xml" Id="R20731fd779fc49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81fef75cd4d05" /><Relationship Type="http://schemas.openxmlformats.org/officeDocument/2006/relationships/notesSlide" Target="/ppt/notesSlides/notesSlide13.xml" Id="R41462ef5dacf4c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6c635449f439a" /><Relationship Type="http://schemas.openxmlformats.org/officeDocument/2006/relationships/notesSlide" Target="/ppt/notesSlides/notesSlide14.xml" Id="Rb296a6481e3f43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7cc73b21c4ca9" /><Relationship Type="http://schemas.openxmlformats.org/officeDocument/2006/relationships/notesSlide" Target="/ppt/notesSlides/notesSlide15.xml" Id="R507a0932ac5746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44fb89c8b4299" /><Relationship Type="http://schemas.openxmlformats.org/officeDocument/2006/relationships/notesSlide" Target="/ppt/notesSlides/notesSlide16.xml" Id="Rb1b6bf97876846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40b935a014f83" /><Relationship Type="http://schemas.openxmlformats.org/officeDocument/2006/relationships/notesSlide" Target="/ppt/notesSlides/notesSlide17.xml" Id="R892541a4e48049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23f0685e94d75" /><Relationship Type="http://schemas.openxmlformats.org/officeDocument/2006/relationships/notesSlide" Target="/ppt/notesSlides/notesSlide18.xml" Id="R68e3ebaa15934e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67F8C-F3F2-49ED-A042-C07EBAE2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管理层汇报  /  2026.10.13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FCE52-FEE7-4150-BF4A-66D1FD27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RSI 四个商业落地方向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ADD71-AECB-4167-B8BB-C1F073DC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4F58B-5C19-45EC-A4A7-1954795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58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研发质量、质量路由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报表审核、图片优化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A170C-0B6D-4EF8-BEDC-BB92826A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以可验证的质量改善和成本收益推进试点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85CDC-1868-43B5-A838-44B8D51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业务场景、MVP、数据闭环、推进分工、验收与优先级</a:t>
            </a:r>
          </a:p>
        </p:txBody>
      </p:sp>
    </p:spTree>
    <p:extLst>
      <p:ext uri="{BB962C8B-B14F-4D97-AF65-F5344CB8AC3E}">
        <p14:creationId xmlns:p14="http://schemas.microsoft.com/office/powerpoint/2010/main" val="673955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B47D4-6C4F-4E67-A437-1B386D21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落地分工  /  共用能力，分别推进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C3BE7-503C-46D9-B295-F7248A5D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自有平台建设与合作伙伴赋能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6039F-6498-416D-A060-31BD0B1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E6882-95C0-466B-B68E-BC25594D7CA4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162425"/>
                <a:gridCol w="3476625"/>
              </a:tblGrid>
              <a:tr h="6934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推进主体与方式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业务价值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研发质量闭环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自有平台，直接建设与验证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减少错误交付和返工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质量路由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自有平台，直接集成与运营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相同质量下减少总调用成本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合作伙伴推进，我们提供审核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减少数字、口径和结论错误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 Review 与优化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合作伙伴推进，我们提供闭环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提高可交付率，减少重生成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7AB9A-EFEF-408E-9C02-3EE9743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自有平台先验证共用能力；伙伴负责场景落地，我们提供技能与评估支持。</a:t>
            </a:r>
          </a:p>
        </p:txBody>
      </p:sp>
    </p:spTree>
    <p:extLst>
      <p:ext uri="{BB962C8B-B14F-4D97-AF65-F5344CB8AC3E}">
        <p14:creationId xmlns:p14="http://schemas.microsoft.com/office/powerpoint/2010/main" val="1038900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A53F4-BE9D-40C6-B4CF-4BC25AB7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推进顺序  /  依据复用能力、反馈可信度和试点依赖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E3E69-1F3C-40E4-8538-EA954631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建议落地优先级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53879-49CA-488B-BC91-71F76C5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09C9A-C8FE-4C5F-A725-A3B09F74B024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47875"/>
                <a:gridCol w="4162425"/>
                <a:gridCol w="3714750"/>
              </a:tblGrid>
              <a:tr h="6972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排序依据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进入条件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自有平台，先验证共用闭环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任务可重放、成功可验证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自有平台，复用质量决策能力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质量标签、调用量和成本可见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伙伴推进，提供审核技能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伙伴数据、口径与审核负责人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伙伴推进，提供生成优化技能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授权素材、盲评与业务标准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67EAD-4DF9-42C3-A9E7-53A849EA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内部建设优先前两项；报表与图片由伙伴推进，技能赋能随伙伴准备情况并行。</a:t>
            </a:r>
          </a:p>
        </p:txBody>
      </p:sp>
    </p:spTree>
    <p:extLst>
      <p:ext uri="{BB962C8B-B14F-4D97-AF65-F5344CB8AC3E}">
        <p14:creationId xmlns:p14="http://schemas.microsoft.com/office/powerpoint/2010/main" val="1368120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BB84E-CDBD-4C63-9C9D-91037630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自有平台直接建设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12D03-52D4-4BBA-A514-03A3A27E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AutoDev：研发质量闭环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0DFE1-BF94-4E77-A6E9-2E18150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566E6-2FB5-4471-B449-E7792F46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EED7-68D5-43CB-AC95-D792EAAC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更新模型或提示词后，任务完成率波动，测试漏跑，交付需要人工返工。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33F69-C48D-42F9-8E33-77E5CD2B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D33AE-C3DC-4E47-90FB-85B1AE35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一类固定研发任务，一个可重放环境，配置候选比较、独立回归和版本回滚。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84AA3-18E5-40DE-9F9D-34597F89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38773-C5B1-4445-B283-98F7E2A6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评估后台、配置切换适配器、有限优化调度、基线与候选报告、加载回执。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C135-4F55-44D3-8EC3-5EBA0F5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先优化模型选择、Prompt 或 Skill。权重训练按独立验证结果分阶段引入。</a:t>
            </a:r>
          </a:p>
        </p:txBody>
      </p:sp>
    </p:spTree>
    <p:extLst>
      <p:ext uri="{BB962C8B-B14F-4D97-AF65-F5344CB8AC3E}">
        <p14:creationId xmlns:p14="http://schemas.microsoft.com/office/powerpoint/2010/main" val="2036544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121CD-684D-48DE-A45C-B9386439FD04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764AF-2309-4464-BAE6-B42A9B852136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781E1-0E4D-437B-A90E-C7D8CCA56A0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CB59A-DE22-48CC-A573-7DE2001D7D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542C3-567E-4463-8809-AD4ABA2DE00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C88D7-CD71-4F35-AA0F-75FB4BE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失败案例成为新回归任务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14DF3-D1E7-488E-8628-AF7BB1F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BD47-FFA6-49A2-99C7-8FBE4CCE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745D6AD5-501C-4561-89AB-76F35F5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29853-19AC-4700-AD91-83A1CCF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任务执行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DE51C-9462-4FCB-87FF-7AC07FD8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需求、配置版本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轨迹、产物、成本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85FE8A2-A937-4A5A-B061-5795BCD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1BEDB-CBA1-4DF6-8E3D-7AC83DC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质量验证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130E0-D962-4A1A-934C-C47459D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测试与验收标准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人工复核失败原因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96A2B8B3-7417-4A78-9279-F64EE368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09FA1-0B4B-4FAA-AD78-1A43DDB5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配置优化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F1C76-2DCA-4CD0-A820-643F4123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只读开发反馈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有限改 Prompt / Skill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BF5C468B-5F73-4D65-A59A-D979FC31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3F6A1-89EA-49E8-A74A-CF4D8A8E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独立验收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4890C-5324-4560-A0F0-E70A73D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同条件基线对照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留出收益与回归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06F73B33-EC12-4394-807C-6D46C3B7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C86D8-0315-47D8-AAEC-06A293DE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3EB51-4633-4847-AC47-F3F80D5E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10EB1-49BA-45CE-9EEB-72489BAA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数据必须关联 task_id、run_id、实际配置与验证证据；优化器不读取留出答案。</a:t>
            </a:r>
          </a:p>
        </p:txBody>
      </p:sp>
    </p:spTree>
    <p:extLst>
      <p:ext uri="{BB962C8B-B14F-4D97-AF65-F5344CB8AC3E}">
        <p14:creationId xmlns:p14="http://schemas.microsoft.com/office/powerpoint/2010/main" val="44973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81EF7-1868-434F-B2E2-6CA5096E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建议门槛，试点前冻结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2D7BC-FC27-4AA8-863D-910157F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的推进方式与验收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862D5-C18C-472A-8157-EAA3764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7F09B-B214-4CD3-A943-BE80F45F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2821-1F0F-48C1-96F2-C53CE599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自有平台负责执行链路、配置优化与质量验证，工程和评估共同维护任务标准。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B6C0A-483C-49CF-AA3A-0DBB7DD2F108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任务成功率提高 ≥5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质量底线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关键回归全通过，未知结果单列，成本与时延不超预算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闭环完整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新运行加载正确版本，拒绝、预算停止和回滚演示通过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1D738-76DA-4597-81D9-E5396C6F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按固定任务范围验证质量改善，控制优化轮数、运行成本和回归风险。</a:t>
            </a:r>
          </a:p>
        </p:txBody>
      </p:sp>
    </p:spTree>
    <p:extLst>
      <p:ext uri="{BB962C8B-B14F-4D97-AF65-F5344CB8AC3E}">
        <p14:creationId xmlns:p14="http://schemas.microsoft.com/office/powerpoint/2010/main" val="2124854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17221-D6A4-4EA1-AC4F-27B4B040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自有平台直接集成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F16B1-07CA-4BE4-A9A0-07A001D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TokenHub：质量路由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A047A-1410-4039-84B1-133B0D2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F213E-928A-4630-BCED-655EF1B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86957-7235-43EC-B488-9067E095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简单任务调用昂贵模型，复杂任务使用便宜模型后失败，整体成本难以控制。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3B0CC-40F8-4AB0-A2DB-A54C038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902F6-DF2B-4951-8827-CF3066E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一种文本任务，固定候选模型，小模型或规则先判断，低把握升级到强模型。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CEAB0-E0AA-4C2D-AB82-7B80D2E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267EC-1BCB-4588-A031-ED8B175C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路由策略、质量判断接口、影子对照、抽检、成本报告和回滚。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F4B02-C62E-43F1-9329-85BD7BEC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比较同一质量要求下的完整路径成本，包含判断、升级、重试与人工。</a:t>
            </a:r>
          </a:p>
        </p:txBody>
      </p:sp>
    </p:spTree>
    <p:extLst>
      <p:ext uri="{BB962C8B-B14F-4D97-AF65-F5344CB8AC3E}">
        <p14:creationId xmlns:p14="http://schemas.microsoft.com/office/powerpoint/2010/main" val="744239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ED4A5-4DB0-4267-9746-624CA47B4DB5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52F90-3B2B-4115-9B6A-6A305CE96836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0403C-C043-4267-BA75-6670E586179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B9119-5D12-44D4-A5FA-5B88F0E59CD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70080-A62B-4891-B064-F29136471F9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87C89-4E15-4574-B305-37A1FCC1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用实际结果更新决策策略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02CD-18E6-4624-B075-43F0167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A629A-FED6-4024-BA36-C851159C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D503847E-3682-4578-87C7-2D74DF8D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2AD76-0E2E-49D5-90B8-664E42A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状态采集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6AEAE-27E5-410F-B539-329816C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任务类型与输入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候选模型和版本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4A6986E6-91F6-479A-B860-81949DA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68FDF-14B0-43BD-A8C1-6EE7565A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路径执行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3D904-BF73-4607-AEEE-C7DB9E97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实际模型与结果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升级、耗时、费用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3365CE7-EA8B-4E42-BA2A-1E9097F1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7695E-81BD-4488-87A5-D377CFC3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标签与训练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2C6D9-6D36-4AA2-8214-85B3E7CD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独立审核成功条件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训练 / 校准分开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92CB83AA-C46C-4FD5-99B2-93A60FE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00BA1-3C4E-4198-A02A-A7320AE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路由验证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E1986-4860-4328-BA95-FC797FB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固定质量与样本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成本、风险和覆盖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36F366BC-BC81-44F8-B724-CB24A58B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23485-FAFC-4D02-AEF8-AFA731EF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B3369-586F-4335-BFB1-D031972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5907F-A7D6-469E-A03F-936ED71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同任务不同路径离线配对；升级后的成功不自动证明原路径需要升级。</a:t>
            </a:r>
          </a:p>
        </p:txBody>
      </p:sp>
    </p:spTree>
    <p:extLst>
      <p:ext uri="{BB962C8B-B14F-4D97-AF65-F5344CB8AC3E}">
        <p14:creationId xmlns:p14="http://schemas.microsoft.com/office/powerpoint/2010/main" val="447986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4B09B-F91F-4D68-A469-EEE766A1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总成本收益优先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A1094-098C-4B0C-89B5-08882A15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的推进方式与验收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E21D4-C91F-4D10-9182-1F46855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B023A-D13E-48D1-B618-221166AE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4D51F-6F45-47E7-B991-40B581F3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自有平台集成质量判断与路由策略，先影子运行，再按独立质量证据受控放量。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9F77F-D09E-45FF-8D25-93AD447A2E43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质量与覆盖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自动继续覆盖 ≥70%，错误放行率的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达到相同质量门槛时，比强模型全量路径下降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 时延和升级比例达冻结目标，依赖失败有兜底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FD9DD-E492-4DF4-ABF4-85DCA33E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训练、空闲算力与运维摊销也计入经济性，费用未知时不记为零。</a:t>
            </a:r>
          </a:p>
        </p:txBody>
      </p:sp>
    </p:spTree>
    <p:extLst>
      <p:ext uri="{BB962C8B-B14F-4D97-AF65-F5344CB8AC3E}">
        <p14:creationId xmlns:p14="http://schemas.microsoft.com/office/powerpoint/2010/main" val="1349699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B0EFF-C83D-456B-AE87-748AF976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98A7-CDC8-4F08-B6CB-5EFD6D86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报表审核：技能赋能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8B6BC-6180-47A4-927A-001A961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AE823-47F3-4889-ACE2-340D8D6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F3133-2559-4944-B238-CA58018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周报中的数字、统计口径和文字结论不一致，人工核对耗时，重要异常遗漏。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250DB-BDCD-4E9E-992F-92474FF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D8684-A2EB-49E8-B4DA-DFDACBB5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提供一个固定模板的审核 Skill 与证据接口，伙伴负责数据源、口径和业务接入。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E80C9-B205-4C22-AD6A-27403F1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29A06-19A4-4C44-AEC8-95F84287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我们提供审核技能、评估工具与问题支持；伙伴负责场景运营、人工复核和验收。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133DA-9A99-40A1-8AA2-17E3E04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代码负责计算和口径检查，模型检查语义与证据。因果解释需额外依据。</a:t>
            </a:r>
          </a:p>
        </p:txBody>
      </p:sp>
    </p:spTree>
    <p:extLst>
      <p:ext uri="{BB962C8B-B14F-4D97-AF65-F5344CB8AC3E}">
        <p14:creationId xmlns:p14="http://schemas.microsoft.com/office/powerpoint/2010/main" val="1912482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DF68E-90AE-448A-B9D6-C90974F3C9F8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92B8E-A864-4CCC-A80E-FD59299B8A40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DD3C1-504E-4CC6-9440-3922AF6C352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52444-83E2-4DCD-802B-1D2F2CD21D7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273BD-7524-41F8-829D-CA55DA4BBA6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52827-44B9-498F-8254-A304010C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伙伴提供审核反馈，我们更新技能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81FF5-315E-4BA2-9CAE-36371CE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B2C2F-1C97-4F64-91F6-FCFA7D52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72DB5B34-5F0A-46F1-8E39-F437922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A9954-4E76-4F6C-AC50-02F0F15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输入冻结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A6704-D72C-40AF-AC16-FF560D8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源数据快照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指标与口径版本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10BC734E-D510-480A-97F4-282D65B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2838F-7A4E-4B4F-9D82-0FEC065B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分层审核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BEFDC-1D9E-427F-AB71-E5EF5D2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数字与结构检查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结论证据和异常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9E0AAFB-69A3-4495-85E7-55C31CDF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EBBB5-F41E-44A9-A490-90841B8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人工裁决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9CA8F-B657-45B1-8809-21F72E08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错误位置与原因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保留修改前后版本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41BADAC5-90DA-4E57-85AB-6DB6AF8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5D9C7-3FD5-4BB1-A165-8C3E4391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规则更新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5398A-3D66-4CC3-95AC-54DE7C8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审核 Prompt / 模型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新报表独立验证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93CAF3BE-5D44-4F8F-B0D8-4135E720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96481-F8DE-4F53-9ECB-0C57B77E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42CE8-403D-4EE1-AE64-9C549A32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2C35B-1105-4F8E-9783-49388E6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伙伴提供经授权的审核反馈与错误证据；我们按独立验证结果更新技能版本。</a:t>
            </a:r>
          </a:p>
        </p:txBody>
      </p:sp>
    </p:spTree>
    <p:extLst>
      <p:ext uri="{BB962C8B-B14F-4D97-AF65-F5344CB8AC3E}">
        <p14:creationId xmlns:p14="http://schemas.microsoft.com/office/powerpoint/2010/main" val="2004239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171BB-D88D-46F8-9661-095F609B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同时验证审核质量和人工收益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CA1BA-B132-4472-8BAB-693F5C36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报表审核的协作与验收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B214D-C98E-4B46-A14F-BDC58D90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1EADE-9AA2-4CBE-B145-3840421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5BE3F-DDFD-419E-9CC0-808D10E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伙伴负责业务接入、审核标准和场景验收；我们提供审核 Skill、证据接口与评估支持。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3EED6-F087-4574-8E6F-71897E6DD58C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数字与口径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约定指标的确定性检查案例 100% 通过，证据可定位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语义审核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关键结论错误漏检率的 95% 上界 ≤5%，误报单列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业务效率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保持审核质量时，人工审核时间下降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64EF6-F978-41EC-BD37-4C0CFCD5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伙伴指定审核负责人，双方冻结错误清单与模板，再验证技能效果。</a:t>
            </a:r>
          </a:p>
        </p:txBody>
      </p:sp>
    </p:spTree>
    <p:extLst>
      <p:ext uri="{BB962C8B-B14F-4D97-AF65-F5344CB8AC3E}">
        <p14:creationId xmlns:p14="http://schemas.microsoft.com/office/powerpoint/2010/main" val="143970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4B8E2-5963-4918-B409-CE211566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19A82-AFCB-4FD9-BF87-E2D72899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图片：Review 与优化技能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F906F-CD03-4D1E-AEB4-940FFAC6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CCCB6-860E-498E-90EE-64874F8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7C80-397F-4F34-A46B-C997E58B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同一需求多次生成仍有遗漏、主体或风格偏差，需要人工筛图与修改提示词。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6FAC6-C1EC-4722-B8B7-BDA6D78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DC405-895B-4069-A9FF-F2744886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 Review 与提示词优化 Skill，伙伴确定图片场景、素材、模型和可交付标准。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E4501-6C37-44FA-893E-D321050D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69641-D757-4B1C-8043-F43F2F59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我们提供缺陷判断、定向修订与预算控制技能；伙伴负责业务工作流、盲评和验收。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B851C-12C3-4BE2-B7E0-924927DE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图片业务由伙伴选择。我们提供可复用技能，联合确认评估标准与接口。</a:t>
            </a:r>
          </a:p>
        </p:txBody>
      </p:sp>
    </p:spTree>
    <p:extLst>
      <p:ext uri="{BB962C8B-B14F-4D97-AF65-F5344CB8AC3E}">
        <p14:creationId xmlns:p14="http://schemas.microsoft.com/office/powerpoint/2010/main" val="1349052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60745-B55C-423A-9A95-512077CE2D01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12092-300D-47F1-B7CA-DE8829114B47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31080-FDB7-4751-8647-D1A6FF41ACA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B5425-6EFD-4054-9595-9CCF7AA184C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31996-19BD-4E73-92E4-24CBFE127CC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6F731-698F-48ED-A575-4AACB5B8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伙伴运行工作流，我们支持技能迭代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698DA-59BB-487B-AC73-B34B87EE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 Review 与提示词优化闭环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36FD3-B14E-4B1E-B047-0C99F2A2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8A244E2C-3CB1-4620-8D59-D82534DB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E0E08-AC56-409F-BB4C-0E14C2D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生成与留档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78CC8-C05B-4258-BD15-5EE5C379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要求、参考、seed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 / Prompt 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230D7C5A-0043-42F7-A45A-B5F5A61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698CA-4338-4998-9984-DFAB85F6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AD007-16F8-4CE5-A950-F285F28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硬缺陷与一致性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低把握转人工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01CF404D-7EA8-4B57-8F5C-E340ABA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D4D77-6CB8-45BC-BFF3-F25DBCC1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定向修订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549F5-4002-4EB0-B186-CDB32C9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按缺陷修改 Prompt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限定轮数与成本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18DFBF0F-21EA-42BF-AB4F-3726DA1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0D6DB-539B-44E3-A020-5C4B0C9A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重生成验证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C64A-8779-4AD6-8528-8FECD600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独立人工盲评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留出任务和成本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7BCD174-7FF7-4ABA-87FB-6D2FA1A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A96DD-B8B0-4F30-9C8A-484015E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1E8D3-E7BB-45B9-9BE0-2DED361B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19CBF-97F4-4543-BD9F-0359B6D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伙伴提供授权素材与盲评反馈；我们修订技能，同组隔离并独立验证新版本。</a:t>
            </a:r>
          </a:p>
        </p:txBody>
      </p:sp>
    </p:spTree>
    <p:extLst>
      <p:ext uri="{BB962C8B-B14F-4D97-AF65-F5344CB8AC3E}">
        <p14:creationId xmlns:p14="http://schemas.microsoft.com/office/powerpoint/2010/main" val="1590780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4F98E-BC06-4261-B58B-188E602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按合格产物核算价值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5DED4-6A75-4B1B-837E-21DA9B8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图片闭环的协作与验收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62355-BC59-4832-85A5-8E21681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129D2-168E-4242-93C8-2AEC021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4F19E-7880-4C16-93C6-2B22BB5D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伙伴负责素材、业务流程与交付验收；我们提供 Review、提示词优化和评估技能。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368A6-9F70-41AF-865F-D4E3E1B886F8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审核可靠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自动通过覆盖 ≥60%，误放行率的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可交付率提高 ≥10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在相同可交付标准下，每张合格图片总成本下降 ≥20%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522AC-9CA1-4395-B5EF-8AA5BCF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生成、审核、失败重试和人工筛图全部计成本；达预算仍失败时明确转人工。</a:t>
            </a:r>
          </a:p>
        </p:txBody>
      </p:sp>
    </p:spTree>
    <p:extLst>
      <p:ext uri="{BB962C8B-B14F-4D97-AF65-F5344CB8AC3E}">
        <p14:creationId xmlns:p14="http://schemas.microsoft.com/office/powerpoint/2010/main" val="6953526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5DB23-6466-4925-B46E-0A8994BE82D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63000" y="50958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86765-910E-468A-A96A-7CE5C2EFD607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25113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C456F-943E-4627-AE64-92B099C99D4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29338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2F624-21EC-447E-8039-D3CB125B4B9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686300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3A796-EA99-459E-8266-E17981141D3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6300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89921-D20D-45A7-9690-094E9D2F2F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76925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4A2EB-2DD9-4DD0-A52D-6971D14AC4F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E972E-937D-4EEA-A54B-074A1F18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建设方案  /  四个方向的任务标准分别管理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BA56F-3018-4FC7-AAF7-09EDAF7A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共用评估与版本底座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C27AB-C6B4-431D-A97B-E5EAD628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business">
            <a:extLst xmlns:a="http://schemas.openxmlformats.org/drawingml/2006/main">
              <a:ext uri="{FF2B5EF4-FFF2-40B4-BE49-F238E27FC236}">
                <a16:creationId xmlns:a16="http://schemas.microsoft.com/office/drawing/2014/main" id="{0F38EA70-B625-4C47-A6D4-068EEFAA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146E1-6165-4236-B48E-CCAAA41A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业务适配层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AA402-1B7D-4CCB-BECC-7035BFA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/ TokenHub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 / 图片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764BDE2F-2D78-4AF5-8E6B-86377362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6834D-359E-4C84-9143-FF2DBEF7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数据与标签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28EEA-BC3E-4776-9545-4AEFB4A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输入、结果、证据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 / 校准 / 留出</a:t>
            </a:r>
          </a:p>
        </p:txBody>
      </p:sp>
      <p:sp>
        <p:nvSpPr>
          <p:cNvPr id="10" name="eval">
            <a:extLst xmlns:a="http://schemas.openxmlformats.org/drawingml/2006/main">
              <a:ext uri="{FF2B5EF4-FFF2-40B4-BE49-F238E27FC236}">
                <a16:creationId xmlns:a16="http://schemas.microsoft.com/office/drawing/2014/main" id="{B52A5831-C465-4551-BDF5-5C106D31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DC0E8-8209-41EB-AC01-E8826A72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分层评估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8E07D-CF4B-498D-9114-38B5A1FB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代码、模型与人工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标准与裁判版本</a:t>
            </a:r>
          </a:p>
        </p:txBody>
      </p:sp>
      <p:sp>
        <p:nvSpPr>
          <p:cNvPr id="13" name="opt">
            <a:extLst xmlns:a="http://schemas.openxmlformats.org/drawingml/2006/main">
              <a:ext uri="{FF2B5EF4-FFF2-40B4-BE49-F238E27FC236}">
                <a16:creationId xmlns:a16="http://schemas.microsoft.com/office/drawing/2014/main" id="{EF0F5394-96CA-4101-8E60-4B11DD2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8375"/>
            <a:ext cx="2314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DAFBC-C5FB-4ABA-9021-3EA541F4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81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受控优化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95D30-F061-4FE8-A132-431E72F2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9716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Prompt / Skill / 路由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专用模型训练</a:t>
            </a:r>
          </a:p>
        </p:txBody>
      </p:sp>
      <p:sp>
        <p:nvSpPr>
          <p:cNvPr id="19" name="registry">
            <a:extLst xmlns:a="http://schemas.openxmlformats.org/drawingml/2006/main">
              <a:ext uri="{FF2B5EF4-FFF2-40B4-BE49-F238E27FC236}">
                <a16:creationId xmlns:a16="http://schemas.microsoft.com/office/drawing/2014/main" id="{98C93186-BA3C-4FFC-BDDD-09B1A56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5267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1B1FB-3622-4F14-B01A-FF9A89E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67250"/>
            <a:ext cx="4924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证据与版本登记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1DACA-4DD8-4509-BB01-85541F8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43500"/>
            <a:ext cx="4924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配置、权重、数据、费用、运行 ID 和接受理由</a:t>
            </a:r>
          </a:p>
        </p:txBody>
      </p:sp>
      <p:sp>
        <p:nvSpPr>
          <p:cNvPr id="22" name="release">
            <a:extLst xmlns:a="http://schemas.openxmlformats.org/drawingml/2006/main">
              <a:ext uri="{FF2B5EF4-FFF2-40B4-BE49-F238E27FC236}">
                <a16:creationId xmlns:a16="http://schemas.microsoft.com/office/drawing/2014/main" id="{82F3F634-7D16-41AF-8AF5-C4EEB20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24375"/>
            <a:ext cx="2314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06D7B-AB68-4548-BB20-52E1F9E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67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独立验收与发布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7BB94-5924-4260-AAFB-E979E09D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43500"/>
            <a:ext cx="1971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收益门槛、灰度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实际继承与回滚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BD752-43C7-47D9-AAEF-23463FC0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接口统一，业务标准独立。裁判自评、采用记录和普通追问不能替代正确标签。</a:t>
            </a:r>
          </a:p>
        </p:txBody>
      </p:sp>
    </p:spTree>
    <p:extLst>
      <p:ext uri="{BB962C8B-B14F-4D97-AF65-F5344CB8AC3E}">
        <p14:creationId xmlns:p14="http://schemas.microsoft.com/office/powerpoint/2010/main" val="11628697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7C43A-C0D6-4B5D-ACD2-F242E5E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研发主线  /  一个固定任务先验证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6D023-1700-4F0C-8D46-78079A6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Decision 小模型的建设与复用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B9A0E-000F-48AC-8A8D-987883E7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C991D-22DE-40B1-9C3D-F7447D08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数据与标注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8EF64-5BE4-4308-8F94-0A0A78BD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采集决策前状态和后验结果，双人独立标注，分歧裁决，按任务组隔离。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0ADDF-6FB8-41B7-A6F8-AF740CD1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训练与验证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02B11-291B-4459-B3EA-AF7690D6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先比较规则与强模型基线，训练固定任务小模型，独立校准概率和验收风险。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A3F30-672B-4585-B03D-AEBE76B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89376-F34F-44F4-ADEC-2E6DFA11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优先承担质量路由的升级判断；研发与报表单独验证，图片采用独立视觉能力。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8D046-A4AF-46FF-9BA3-B7A21372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按客户和任务积累标签后再扩展分类、选择与排序，不承诺任意新任务直接可用。</a:t>
            </a:r>
          </a:p>
        </p:txBody>
      </p:sp>
    </p:spTree>
    <p:extLst>
      <p:ext uri="{BB962C8B-B14F-4D97-AF65-F5344CB8AC3E}">
        <p14:creationId xmlns:p14="http://schemas.microsoft.com/office/powerpoint/2010/main" val="7995042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3BD4E-F2C1-46AB-B602-26463A9E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实施建议  /  集中交付，按阶段决定是否继续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BCCEB-FDEE-4336-9344-3FD687B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三个月的建设与赋能安排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805B7-2295-4F57-8C06-628E93D9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5937C-4303-4CDB-904D-64E0860E620A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248025"/>
                <a:gridCol w="3248025"/>
                <a:gridCol w="3048000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自有平台建设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伙伴协作与技能赋能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阶段验收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共用评估底座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基线与接口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确认伙伴、标准和样本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选择报表或图片试点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任务可重放，标签可信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范围与分工冻结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受控闭环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路由影子运行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交付审核或优化 Skill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伙伴接入样本并试运行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独立质量证据成立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技能接口可联调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前两项验收与灰度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配置继承和回滚验证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伙伴推进场景验证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双方评审技能复用效果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平台效果与技能效果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分别形成验收结论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0530E-B347-49B4-9ABA-1D3E0A3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自有平台由我们直接推进；报表与图片由伙伴主导，我们提供技能与评估闭环。</a:t>
            </a:r>
          </a:p>
        </p:txBody>
      </p:sp>
    </p:spTree>
    <p:extLst>
      <p:ext uri="{BB962C8B-B14F-4D97-AF65-F5344CB8AC3E}">
        <p14:creationId xmlns:p14="http://schemas.microsoft.com/office/powerpoint/2010/main" val="86536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2026-10-13T03:05:38.7990000Z</dcterms:created>
  <dcterms:modified xsi:type="dcterms:W3CDTF">2026-10-13T03:05:38.7990000Z</dcterms:modified>
</coreProperties>
</file>