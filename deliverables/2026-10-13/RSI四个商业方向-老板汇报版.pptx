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164a9291194965" /><Relationship Type="http://schemas.openxmlformats.org/officeDocument/2006/relationships/extended-properties" Target="/docProps/app.xml" Id="Re1721f5d86164e06" /><Relationship Type="http://schemas.openxmlformats.org/officeDocument/2006/relationships/officeDocument" Target="/ppt/presentation.xml" Id="R55ebd8cd4290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9a7f4a64394eeb"/>
  </p:sldMasterIdLst>
  <p:notesMasterIdLst>
    <p:notesMasterId xmlns:r="http://schemas.openxmlformats.org/officeDocument/2006/relationships" r:id="Ra62f439316a744f6"/>
  </p:notesMasterIdLst>
  <p:sldIdLst>
    <p:sldId xmlns:r="http://schemas.openxmlformats.org/officeDocument/2006/relationships" id="256" r:id="R6e6ba0bb86764396"/>
    <p:sldId xmlns:r="http://schemas.openxmlformats.org/officeDocument/2006/relationships" id="257" r:id="R3df0b0aa35434ccb"/>
    <p:sldId xmlns:r="http://schemas.openxmlformats.org/officeDocument/2006/relationships" id="258" r:id="R16ef2784df204e17"/>
    <p:sldId xmlns:r="http://schemas.openxmlformats.org/officeDocument/2006/relationships" id="259" r:id="R36d261826fe3441c"/>
    <p:sldId xmlns:r="http://schemas.openxmlformats.org/officeDocument/2006/relationships" id="260" r:id="Rcc158c8ebbe545eb"/>
    <p:sldId xmlns:r="http://schemas.openxmlformats.org/officeDocument/2006/relationships" id="261" r:id="Rda3e214ca7c244aa"/>
    <p:sldId xmlns:r="http://schemas.openxmlformats.org/officeDocument/2006/relationships" id="262" r:id="Rc7e334166dfb487f"/>
    <p:sldId xmlns:r="http://schemas.openxmlformats.org/officeDocument/2006/relationships" id="263" r:id="R51a2b4b34b634f23"/>
    <p:sldId xmlns:r="http://schemas.openxmlformats.org/officeDocument/2006/relationships" id="264" r:id="R6fcedda635844100"/>
    <p:sldId xmlns:r="http://schemas.openxmlformats.org/officeDocument/2006/relationships" id="265" r:id="R1b6c307890614e82"/>
    <p:sldId xmlns:r="http://schemas.openxmlformats.org/officeDocument/2006/relationships" id="266" r:id="Rfc95ed2f3b354696"/>
    <p:sldId xmlns:r="http://schemas.openxmlformats.org/officeDocument/2006/relationships" id="267" r:id="R445c4b6c20954aad"/>
    <p:sldId xmlns:r="http://schemas.openxmlformats.org/officeDocument/2006/relationships" id="268" r:id="R615a4f630ae24e46"/>
    <p:sldId xmlns:r="http://schemas.openxmlformats.org/officeDocument/2006/relationships" id="269" r:id="R4578a99644e04e1d"/>
    <p:sldId xmlns:r="http://schemas.openxmlformats.org/officeDocument/2006/relationships" id="270" r:id="R20cbe7743a4e43ef"/>
    <p:sldId xmlns:r="http://schemas.openxmlformats.org/officeDocument/2006/relationships" id="271" r:id="R98508fe5a9d14c25"/>
    <p:sldId xmlns:r="http://schemas.openxmlformats.org/officeDocument/2006/relationships" id="272" r:id="Rb201c4fcfbe34f66"/>
    <p:sldId xmlns:r="http://schemas.openxmlformats.org/officeDocument/2006/relationships" id="273" r:id="R048ffe7143b94744"/>
    <p:sldId xmlns:r="http://schemas.openxmlformats.org/officeDocument/2006/relationships" id="274" r:id="Re540ca15c7f045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563916818f4810" /><Relationship Type="http://schemas.openxmlformats.org/officeDocument/2006/relationships/slideMaster" Target="/ppt/slideMasters/slideMaster1.xml" Id="Re59a7f4a64394eeb" /><Relationship Type="http://schemas.openxmlformats.org/officeDocument/2006/relationships/notesMaster" Target="/ppt/notesMasters/notesMaster1.xml" Id="Ra62f439316a744f6" /><Relationship Type="http://schemas.openxmlformats.org/officeDocument/2006/relationships/presProps" Target="/ppt/presProps.xml" Id="R1de6cca0a01045d2" /><Relationship Type="http://schemas.openxmlformats.org/officeDocument/2006/relationships/tableStyles" Target="/ppt/tableStyles.xml" Id="Rde911437be424bc9" /><Relationship Type="http://schemas.openxmlformats.org/officeDocument/2006/relationships/slide" Target="/ppt/slides/slide1.xml" Id="R6e6ba0bb86764396" /><Relationship Type="http://schemas.openxmlformats.org/officeDocument/2006/relationships/slide" Target="/ppt/slides/slide2.xml" Id="R3df0b0aa35434ccb" /><Relationship Type="http://schemas.openxmlformats.org/officeDocument/2006/relationships/slide" Target="/ppt/slides/slide3.xml" Id="R16ef2784df204e17" /><Relationship Type="http://schemas.openxmlformats.org/officeDocument/2006/relationships/slide" Target="/ppt/slides/slide4.xml" Id="R36d261826fe3441c" /><Relationship Type="http://schemas.openxmlformats.org/officeDocument/2006/relationships/slide" Target="/ppt/slides/slide5.xml" Id="Rcc158c8ebbe545eb" /><Relationship Type="http://schemas.openxmlformats.org/officeDocument/2006/relationships/slide" Target="/ppt/slides/slide6.xml" Id="Rda3e214ca7c244aa" /><Relationship Type="http://schemas.openxmlformats.org/officeDocument/2006/relationships/slide" Target="/ppt/slides/slide7.xml" Id="Rc7e334166dfb487f" /><Relationship Type="http://schemas.openxmlformats.org/officeDocument/2006/relationships/slide" Target="/ppt/slides/slide8.xml" Id="R51a2b4b34b634f23" /><Relationship Type="http://schemas.openxmlformats.org/officeDocument/2006/relationships/slide" Target="/ppt/slides/slide9.xml" Id="R6fcedda635844100" /><Relationship Type="http://schemas.openxmlformats.org/officeDocument/2006/relationships/slide" Target="/ppt/slides/slide10.xml" Id="R1b6c307890614e82" /><Relationship Type="http://schemas.openxmlformats.org/officeDocument/2006/relationships/slide" Target="/ppt/slides/slide11.xml" Id="Rfc95ed2f3b354696" /><Relationship Type="http://schemas.openxmlformats.org/officeDocument/2006/relationships/slide" Target="/ppt/slides/slide12.xml" Id="R445c4b6c20954aad" /><Relationship Type="http://schemas.openxmlformats.org/officeDocument/2006/relationships/slide" Target="/ppt/slides/slide13.xml" Id="R615a4f630ae24e46" /><Relationship Type="http://schemas.openxmlformats.org/officeDocument/2006/relationships/slide" Target="/ppt/slides/slide14.xml" Id="R4578a99644e04e1d" /><Relationship Type="http://schemas.openxmlformats.org/officeDocument/2006/relationships/slide" Target="/ppt/slides/slide15.xml" Id="R20cbe7743a4e43ef" /><Relationship Type="http://schemas.openxmlformats.org/officeDocument/2006/relationships/slide" Target="/ppt/slides/slide16.xml" Id="R98508fe5a9d14c25" /><Relationship Type="http://schemas.openxmlformats.org/officeDocument/2006/relationships/slide" Target="/ppt/slides/slide17.xml" Id="Rb201c4fcfbe34f66" /><Relationship Type="http://schemas.openxmlformats.org/officeDocument/2006/relationships/slide" Target="/ppt/slides/slide18.xml" Id="R048ffe7143b94744" /><Relationship Type="http://schemas.openxmlformats.org/officeDocument/2006/relationships/slide" Target="/ppt/slides/slide19.xml" Id="Re540ca15c7f045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4bdbaedba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f530add5f4a16" /><Relationship Type="http://schemas.openxmlformats.org/officeDocument/2006/relationships/notesMaster" Target="/ppt/notesMasters/notesMaster1.xml" Id="R53952cd4cb7c45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228f1c3d3f4615" /><Relationship Type="http://schemas.openxmlformats.org/officeDocument/2006/relationships/notesMaster" Target="/ppt/notesMasters/notesMaster1.xml" Id="R7f334db884bd4d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47cd680290484d" /><Relationship Type="http://schemas.openxmlformats.org/officeDocument/2006/relationships/notesMaster" Target="/ppt/notesMasters/notesMaster1.xml" Id="Reba01ed4b2544a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451a71d4a24855" /><Relationship Type="http://schemas.openxmlformats.org/officeDocument/2006/relationships/notesMaster" Target="/ppt/notesMasters/notesMaster1.xml" Id="R604bb1b8befb41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d8957982b6490c" /><Relationship Type="http://schemas.openxmlformats.org/officeDocument/2006/relationships/notesMaster" Target="/ppt/notesMasters/notesMaster1.xml" Id="Re8951d0fa37c45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1b5a22391c4003" /><Relationship Type="http://schemas.openxmlformats.org/officeDocument/2006/relationships/notesMaster" Target="/ppt/notesMasters/notesMaster1.xml" Id="Rf96c6ef9f702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36e3d965784696" /><Relationship Type="http://schemas.openxmlformats.org/officeDocument/2006/relationships/notesMaster" Target="/ppt/notesMasters/notesMaster1.xml" Id="R51029cbd40674d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9eb70574f240cc" /><Relationship Type="http://schemas.openxmlformats.org/officeDocument/2006/relationships/notesMaster" Target="/ppt/notesMasters/notesMaster1.xml" Id="Ra2a93c86c64b46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143d24d3f34d0e" /><Relationship Type="http://schemas.openxmlformats.org/officeDocument/2006/relationships/notesMaster" Target="/ppt/notesMasters/notesMaster1.xml" Id="Rb466c184f9ef44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dc427b24bb4a53" /><Relationship Type="http://schemas.openxmlformats.org/officeDocument/2006/relationships/notesMaster" Target="/ppt/notesMasters/notesMaster1.xml" Id="R83bd40c95b8441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d0b4ba93f64ceb" /><Relationship Type="http://schemas.openxmlformats.org/officeDocument/2006/relationships/notesMaster" Target="/ppt/notesMasters/notesMaster1.xml" Id="R46d1065f8ee941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f786f3860646a3" /><Relationship Type="http://schemas.openxmlformats.org/officeDocument/2006/relationships/notesMaster" Target="/ppt/notesMasters/notesMaster1.xml" Id="Rcac034c4a37441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fb628df4fc494f" /><Relationship Type="http://schemas.openxmlformats.org/officeDocument/2006/relationships/notesMaster" Target="/ppt/notesMasters/notesMaster1.xml" Id="Ra9693543aec04b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e7b0b61db34a80" /><Relationship Type="http://schemas.openxmlformats.org/officeDocument/2006/relationships/notesMaster" Target="/ppt/notesMasters/notesMaster1.xml" Id="R8672224993594c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22a7f1fea84f27" /><Relationship Type="http://schemas.openxmlformats.org/officeDocument/2006/relationships/notesMaster" Target="/ppt/notesMasters/notesMaster1.xml" Id="Rc7ee2b3d580e41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cbde4791834a5a" /><Relationship Type="http://schemas.openxmlformats.org/officeDocument/2006/relationships/notesMaster" Target="/ppt/notesMasters/notesMaster1.xml" Id="Rfef91b8da45b45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3d12975ca84ab5" /><Relationship Type="http://schemas.openxmlformats.org/officeDocument/2006/relationships/notesMaster" Target="/ppt/notesMasters/notesMaster1.xml" Id="R165c41c8350845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ac5f07095b4aa8" /><Relationship Type="http://schemas.openxmlformats.org/officeDocument/2006/relationships/notesMaster" Target="/ppt/notesMasters/notesMaster1.xml" Id="R4b6610bc8cd54f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10e235ce104eca" /><Relationship Type="http://schemas.openxmlformats.org/officeDocument/2006/relationships/notesMaster" Target="/ppt/notesMasters/notesMaster1.xml" Id="Rbaea03b63656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统一使用AutoDev作为研发方向名称。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这是技术与交付顺序，不是已验证市场需求排名。AutoDev需要确认可重放任务、配置写接口与加载证明；TokenHub需要调用质量标签和成本可见性。付费客户提供合规数据及验收标准时，报表/图片可以提前。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测试通过仅证明测试覆盖的条件。独立任务组配对比较，记录资源和不确定结果。不得自动修改生产权限或任意代码。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成功率提升5个百分点为建议目标，同时任务组配对95%差异区间下界&gt;0。样本不足时扩大独立任务。成本与时延上限需根据客户基线约定。没有收益时分别报告平台功能通过和优化收益未通过。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起步可以规则+强模型判断，模型达标后引入自己的decision权重。用户点击与模型自报不能作为金标，拒判不算正确预测。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自动继续覆盖率分母为冻结范围内有效且有金标的样本，另报全部请求覆盖率。风险为自动继续中的错误放行。95%上界须满足门槛，相关样本按group bootstrap。保持与强模型全量基线相同的质量底线，价格不构成实测收益。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先只优化审核器，生成器保持固定以利归因。若后续优化报表生成提示词，使用独立审核标准，防止生成器和裁判一起迎合评分。数字必须对照冻结源数据。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数值为建议。数字/口径检查100%仅覆盖约定指标与测试案例，不代表任意财务/业务数据。关键语义错误漏检按独立人工金标测量，95%上界&lt;=5%。人工时间在相同质量标准下比较，不能只测模型推理时延。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使用授权素材，不向未授权外部服务发送客户数据。审核器标准在一轮优化内固定，不能仅用同一裁判分数上涨证明合格率提高。线上每任务建议最多两轮重生成，准确预算客户确认。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数值为建议。可交付率按全部任务在固定预算内获得至少一张合格图计算，失败任务保留在分母。采用同输入/相同总预算对照并按任务组给区间。误放行以自动通过中的独立人工不合格为分母，按冻结标准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该图为建议架构。独立验证集权限分离；主干API可借用已有需求契约：datasets、evaluation-jobs、validation-jobs、releases、rollback。服务接口需要联调确认，不表示当前四场景已有运行部署。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源自本地Decision MVP需求。金标由独立人工或可靠可执行证据形成。模型开发、校准、锁定测试隔离；概率不能来自模型文字自报。文本决策模型不能直接替代图片视觉审核器；图片需单独视觉模型及其校准。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采用相对月份，实际启动日和人力未定。不是四个方向三个月全部商业发布的承诺。官网/其他产品优先级与资源冲突在立项时确认，不把兼职排期当全职投入。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-10会议的评估、AutoDev优化和专用决策模型方向，及用户2026-10-13明确选择的四个商业场景。范围、架构、收费、排序和数值验收门槛为本稿建议。尚无四个方向的客户订单、实测收益或收入预测。历史反馈记录不等于AutoDev已获得可训练数据，AutoDev实际接口和样本需单独确认。</a:t>
            </a:r>
          </a:p>
          <a:p xmlns:a="http://schemas.openxmlformats.org/drawingml/2006/main">
            <a:r>
              <a:t>无已验证收入预测。预算和人员数应按现有团队实际可用时间确认。停止条件包括标签标准不清、留出收益不足、总成本不成立或客户不认可。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a6852ddde47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f45ab0f024c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b509e879f4e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acd0581d644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e5c673c194a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19be6a0be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003252-A65D-417A-B1CE-332493A30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97FFBD-AA34-44D9-8AD1-EEF212D528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32374A-7E0F-42E5-8973-6668F7617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961D41-F071-4556-90F3-F98576E4F8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5DB322-917A-4B34-A7A6-DCC11F5127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DD20DF-2254-42E4-9AE1-0D1517ADE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D400EE-E098-42AB-9774-F5063A42A4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0E3B6E-FEFB-44D6-A3F4-DEB5059CB5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6FE4D0-5D93-4018-9C51-CA5529922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588343-6973-4BD5-96B7-DC5C4A6861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e79a89c660470c" /><Relationship Type="http://schemas.openxmlformats.org/officeDocument/2006/relationships/slideLayout" Target="/ppt/slideLayouts/slideLayout1.xml" Id="R87f9c99b9b2d445e" /><Relationship Type="http://schemas.openxmlformats.org/officeDocument/2006/relationships/slideLayout" Target="/ppt/slideLayouts/slideLayout2.xml" Id="R191eeb24f32d4ac6" /><Relationship Type="http://schemas.openxmlformats.org/officeDocument/2006/relationships/slideLayout" Target="/ppt/slideLayouts/slideLayout3.xml" Id="R380ecd59a16449c2" /><Relationship Type="http://schemas.openxmlformats.org/officeDocument/2006/relationships/slideLayout" Target="/ppt/slideLayouts/slideLayout4.xml" Id="R2e69a02ccaf546d4" /><Relationship Type="http://schemas.openxmlformats.org/officeDocument/2006/relationships/slideLayout" Target="/ppt/slideLayouts/slideLayout5.xml" Id="R98b73a370cd14da0" /><Relationship Type="http://schemas.openxmlformats.org/officeDocument/2006/relationships/slideLayout" Target="/ppt/slideLayouts/slideLayout6.xml" Id="R69891dd8ad6c4c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f9c99b9b2d445e"/>
    <p:sldLayoutId xmlns:r="http://schemas.openxmlformats.org/officeDocument/2006/relationships" id="2147483650" r:id="R191eeb24f32d4ac6"/>
    <p:sldLayoutId xmlns:r="http://schemas.openxmlformats.org/officeDocument/2006/relationships" id="2147483651" r:id="R380ecd59a16449c2"/>
    <p:sldLayoutId xmlns:r="http://schemas.openxmlformats.org/officeDocument/2006/relationships" id="2147483652" r:id="R2e69a02ccaf546d4"/>
    <p:sldLayoutId xmlns:r="http://schemas.openxmlformats.org/officeDocument/2006/relationships" id="2147483653" r:id="R98b73a370cd14da0"/>
    <p:sldLayoutId xmlns:r="http://schemas.openxmlformats.org/officeDocument/2006/relationships" id="2147483654" r:id="R69891dd8ad6c4c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00855923c4a20" /><Relationship Type="http://schemas.openxmlformats.org/officeDocument/2006/relationships/notesSlide" Target="/ppt/notesSlides/notesSlide1.xml" Id="R9a63924a2985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4e6ca4044842d1" /><Relationship Type="http://schemas.openxmlformats.org/officeDocument/2006/relationships/notesSlide" Target="/ppt/notesSlides/notesSlide2.xml" Id="Rade17b4a51dd46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84e14caa34ec2" /><Relationship Type="http://schemas.openxmlformats.org/officeDocument/2006/relationships/notesSlide" Target="/ppt/notesSlides/notesSlide3.xml" Id="R83421183c7b0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fbd0087bf4fdf" /><Relationship Type="http://schemas.openxmlformats.org/officeDocument/2006/relationships/notesSlide" Target="/ppt/notesSlides/notesSlide4.xml" Id="R415e47dcfeda42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1754b5a054245" /><Relationship Type="http://schemas.openxmlformats.org/officeDocument/2006/relationships/notesSlide" Target="/ppt/notesSlides/notesSlide5.xml" Id="R8f3d15ff35934e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a94d920bc40a3" /><Relationship Type="http://schemas.openxmlformats.org/officeDocument/2006/relationships/notesSlide" Target="/ppt/notesSlides/notesSlide6.xml" Id="R2c00cb60e2ab4c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46c5f68bd4337" /><Relationship Type="http://schemas.openxmlformats.org/officeDocument/2006/relationships/notesSlide" Target="/ppt/notesSlides/notesSlide7.xml" Id="R1ccc003c472e49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0af6e7a094d5e" /><Relationship Type="http://schemas.openxmlformats.org/officeDocument/2006/relationships/notesSlide" Target="/ppt/notesSlides/notesSlide8.xml" Id="R63da898c02f840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ab2de6dbf47f0" /><Relationship Type="http://schemas.openxmlformats.org/officeDocument/2006/relationships/notesSlide" Target="/ppt/notesSlides/notesSlide9.xml" Id="R20d9a2677afa4f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5072575bb4b31" /><Relationship Type="http://schemas.openxmlformats.org/officeDocument/2006/relationships/notesSlide" Target="/ppt/notesSlides/notesSlide10.xml" Id="Raaba1765bdac4f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ccc4e09064322" /><Relationship Type="http://schemas.openxmlformats.org/officeDocument/2006/relationships/notesSlide" Target="/ppt/notesSlides/notesSlide11.xml" Id="R64da4a3233da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ea95cbae0432f" /><Relationship Type="http://schemas.openxmlformats.org/officeDocument/2006/relationships/notesSlide" Target="/ppt/notesSlides/notesSlide12.xml" Id="Rf6f9b0ef754242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f4cc27a8d4c0a" /><Relationship Type="http://schemas.openxmlformats.org/officeDocument/2006/relationships/notesSlide" Target="/ppt/notesSlides/notesSlide13.xml" Id="R2e3dda9b05fe44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fdcd650ae401d" /><Relationship Type="http://schemas.openxmlformats.org/officeDocument/2006/relationships/notesSlide" Target="/ppt/notesSlides/notesSlide14.xml" Id="R74563cf86f5b40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3c5dd6cb04d63" /><Relationship Type="http://schemas.openxmlformats.org/officeDocument/2006/relationships/notesSlide" Target="/ppt/notesSlides/notesSlide15.xml" Id="R9aa58c713d3643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363bfa67b4ab3" /><Relationship Type="http://schemas.openxmlformats.org/officeDocument/2006/relationships/notesSlide" Target="/ppt/notesSlides/notesSlide16.xml" Id="Rf733fbe3a08e4d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c2aedfd7d4bf8" /><Relationship Type="http://schemas.openxmlformats.org/officeDocument/2006/relationships/notesSlide" Target="/ppt/notesSlides/notesSlide17.xml" Id="R0ff087c72ff240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83dbc9e0846bf" /><Relationship Type="http://schemas.openxmlformats.org/officeDocument/2006/relationships/notesSlide" Target="/ppt/notesSlides/notesSlide18.xml" Id="Rd2485f9318c14c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f66bf6e5c4f92" /><Relationship Type="http://schemas.openxmlformats.org/officeDocument/2006/relationships/notesSlide" Target="/ppt/notesSlides/notesSlide19.xml" Id="R11481fb62d48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6ABC6-1B87-41BB-BDC5-79EE792D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管理层汇报  /  2026.10.13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D6269-A3A9-4B9A-9939-494AC920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RSI 四个商业落地方向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62354-9BCB-4EFB-9831-AC47E281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ACF52-B1A9-428C-9080-E3F7E012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858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研发质量、质量路由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报表审核、图片优化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54B4D-9C7B-4B73-B9BC-C71607E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以可验证的质量改善和成本收益推进试点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A7D3B-9F78-40C4-BF7E-0CAEE39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业务场景、MVP、数据闭环、收费方式、验收与优先级</a:t>
            </a:r>
          </a:p>
        </p:txBody>
      </p:sp>
    </p:spTree>
    <p:extLst>
      <p:ext uri="{BB962C8B-B14F-4D97-AF65-F5344CB8AC3E}">
        <p14:creationId xmlns:p14="http://schemas.microsoft.com/office/powerpoint/2010/main" val="40092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D4FD3-8B28-4835-BBD3-70EA3038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商业布局  /  以下均为待验证的试点方案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DB150-03CD-46B8-B83D-3D7505C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四个方向的客户价值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71DD9-CED6-48BC-98E8-284E5CE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4C610-EC29-4648-B92A-D9AA5A2F1992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876675"/>
                <a:gridCol w="3476625"/>
              </a:tblGrid>
              <a:tr h="6934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目标客户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付费价值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研发质量闭环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软件研发团队、Agent 团队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减少错误交付和返工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质量路由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已有模型调用的企业与开发团队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相同质量下减少总调用成本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经营分析、运营与数据团队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减少数字、口径和结论错误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 Review 与优化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内容运营、品牌与生成服务团队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提高可交付率，减少重生成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E1AE6-4248-4BE0-854D-CDB98A11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四条业务分别定义标准，共用评估、反馈、版本和验证基础设施。</a:t>
            </a:r>
          </a:p>
        </p:txBody>
      </p:sp>
    </p:spTree>
    <p:extLst>
      <p:ext uri="{BB962C8B-B14F-4D97-AF65-F5344CB8AC3E}">
        <p14:creationId xmlns:p14="http://schemas.microsoft.com/office/powerpoint/2010/main" val="372554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D990D-D642-4AEE-83B9-B97F9A4B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推进顺序  /  依据复用能力、反馈可信度和试点依赖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D4578-BAFC-4CD7-9F82-F54D80D9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建议落地优先级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1EB8A-F87E-488C-8B7D-8E562057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61BCA-D613-4C0D-BE75-3DA1A9A6D223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47875"/>
                <a:gridCol w="4162425"/>
                <a:gridCol w="3714750"/>
              </a:tblGrid>
              <a:tr h="6972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排序依据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进入条件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验证共用评估与配置闭环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任务可重放、成功可验证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复用底座，收益能按成本核算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质量标签、调用量和费用可见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固定模板便于定义验收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源数据、口径、审核负责人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缺陷标准和人评依赖更高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素材授权、盲评与业务标准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F17E1-67B0-4741-860F-D4A32938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四个方向保留产品路线，前三个月集中实现前两项，并选报表或图片做一个验证试点。</a:t>
            </a:r>
          </a:p>
        </p:txBody>
      </p:sp>
    </p:spTree>
    <p:extLst>
      <p:ext uri="{BB962C8B-B14F-4D97-AF65-F5344CB8AC3E}">
        <p14:creationId xmlns:p14="http://schemas.microsoft.com/office/powerpoint/2010/main" val="1188679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BF94B-9DA1-4E3B-AC5D-38CAE38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面向软件研发与 Agent 团队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5C9B9-54C2-43D4-BD9C-DEAA8B89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AutoDev：研发质量闭环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D2C1E-8563-44E3-9295-5BE4F137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7555-6BA4-49B3-BF1D-08DEDE2E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7B9A6-BC5C-4667-BD8F-98D0A8A4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更新模型或提示词后，任务完成率波动，测试漏跑，交付需要人工返工。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92D1A-6489-40F0-87C0-D0EE9AB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C1888-BAC2-4529-9CD5-6763C5D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一类固定研发任务，一个可重放环境，配置候选比较、独立回归和版本回滚。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D4F7A-B7DE-42AF-8A80-2B43599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B6D71-5D1F-4576-9095-EB842633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评估后台、配置切换适配器、有限优化调度、基线与候选报告、加载回执。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DDBE3-F692-40E5-8716-E65C38D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先优化模型选择、Prompt 或 Skill。权重训练按独立验证结果分阶段引入。</a:t>
            </a:r>
          </a:p>
        </p:txBody>
      </p:sp>
    </p:spTree>
    <p:extLst>
      <p:ext uri="{BB962C8B-B14F-4D97-AF65-F5344CB8AC3E}">
        <p14:creationId xmlns:p14="http://schemas.microsoft.com/office/powerpoint/2010/main" val="6938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DD7E9-EFC2-428F-A43A-8BA54E11CA85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DB50A-BFC5-4BA0-907B-0000F9991C72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039EB-A96D-4C78-87C4-BB828220F62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7BA63-98C0-4DD0-81EE-97716F6D7BC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35CE7-F44C-4791-BC8E-2A218C93BED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123CA-0CD0-41C1-8091-729BEF5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失败案例成为新回归任务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B6970-E4C8-4C33-A8D3-65DBD64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7B59E-FC0F-495A-AF45-33EED45B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6CEC2827-4861-4390-8AFA-67D78C10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59A1D-6F88-4ECC-A85C-E1CE6C2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任务执行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341AF-893B-4EA2-A9B7-F4F34248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需求、配置版本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轨迹、产物、成本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D54E359E-2D08-4126-A8B7-4D38CF66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DB960-3020-48CA-88B5-F71E85D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质量验证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D09A7-89A0-4B51-BBA1-92E592A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测试与验收标准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人工复核失败原因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97D45D79-DD3E-4428-B3C6-E83AD4B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B8454-B4CC-4DA7-B65C-3907EBB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配置优化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B4680-9E96-4C6C-826A-34653EF6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只读开发反馈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有限改 Prompt / Skill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A1499A8D-41E3-43E1-878C-538D6A9B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16F94-E46C-45A1-8CC9-BA20B780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独立验收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A364D-1438-4C08-B40D-DA2AEDC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同条件基线对照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留出收益与回归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12F570CC-DD9F-4E7A-B848-840FBC1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9C5CB-5B71-425B-8882-95D4ADB3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41E8B-CC75-4A1F-9E5D-32364DB5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6E5CB-6A0A-421E-8DC2-693A5E6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数据必须关联 task_id、run_id、实际配置与验证证据；优化器不读取留出答案。</a:t>
            </a:r>
          </a:p>
        </p:txBody>
      </p:sp>
    </p:spTree>
    <p:extLst>
      <p:ext uri="{BB962C8B-B14F-4D97-AF65-F5344CB8AC3E}">
        <p14:creationId xmlns:p14="http://schemas.microsoft.com/office/powerpoint/2010/main" val="1197295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20BC9-4292-4B28-B725-6A22DDA2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建议门槛，试点前冻结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E6084-7B0B-40D3-97A5-BB4A51C1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的收费与验收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B85B7-0304-4A32-A069-F13AABB6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E5120-8BA1-40AD-AB4C-345CEC7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收费方式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0D2B9-9CE8-492E-949D-8D13BFF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首次接入与评测集建设费，加团队订阅或私有部署年费；持续优化单独约定范围。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3CF20-8198-4C15-886F-2F467F5C1333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任务成功率提高 ≥5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质量底线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关键回归全通过，未知结果单列，成本与时延不超预算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闭环完整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新运行加载正确版本，拒绝、预算停止和回滚演示通过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F965C-52BF-4028-9D4F-CEAE0BCD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按约定任务范围售卖质量改善；避免无限优化、无限重跑。</a:t>
            </a:r>
          </a:p>
        </p:txBody>
      </p:sp>
    </p:spTree>
    <p:extLst>
      <p:ext uri="{BB962C8B-B14F-4D97-AF65-F5344CB8AC3E}">
        <p14:creationId xmlns:p14="http://schemas.microsoft.com/office/powerpoint/2010/main" val="1265717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7F50C-1544-4594-B407-1D35FF2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面向高频模型调用客户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10832-24D8-4C46-8CF2-B64C59CB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TokenHub：质量路由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1B2BA-EBC5-40C2-9932-18F5C40C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19756-13FD-4BBB-9971-7E9FD26A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2EFC9-CB2E-4EB7-A4D6-0790600B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简单任务调用昂贵模型，复杂任务使用便宜模型后失败，整体成本难以控制。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35157-A557-4733-B5BB-52E099C0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7112F-A5BC-41D9-BD01-51CD6D54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一种文本任务，固定候选模型，小模型或规则先判断，低把握升级到强模型。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F58AB-58C5-4D70-9042-11CA4DE5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3F0FB-1B13-4AAA-93B5-B33E556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路由策略、质量判断接口、影子对照、抽检、成本报告和回滚。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55B27-8685-4850-BBF5-3C6A9D5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比较同一质量要求下的完整路径成本，包含判断、升级、重试与人工。</a:t>
            </a:r>
          </a:p>
        </p:txBody>
      </p:sp>
    </p:spTree>
    <p:extLst>
      <p:ext uri="{BB962C8B-B14F-4D97-AF65-F5344CB8AC3E}">
        <p14:creationId xmlns:p14="http://schemas.microsoft.com/office/powerpoint/2010/main" val="874889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20D86C-0225-4DEB-AB93-96A389ACA06E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AEE1B-6487-4B00-B975-AF370BA3B5F5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30922-D8FF-4893-947B-CEDDF7C355B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69F50-3569-407B-9F8A-9E23C706631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84B06-3062-490E-9E14-55B93C4A932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41472-3B7B-45F6-928A-FBFCB868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用实际结果更新决策策略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9B0C4-D621-4268-B63E-ABCE1AEB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7954F-1CCB-4B2B-9E6F-B12D3D2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A61C5C28-7905-48D1-BBEA-5F5BC9BB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A36D6-2094-4D81-808A-A342251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状态采集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703B4-9875-48DC-A212-DA71970E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任务类型与输入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候选模型和版本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ED0A8E4D-CD3A-4AF9-A121-D8838F9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81C57-F881-4818-A700-09680F78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路径执行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FDC67-98E5-4C17-9B69-CCE2E9AB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实际模型与结果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升级、耗时、费用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AA3F0D04-C8C5-40DA-93BA-E79B6DDC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8F494-BC1B-4993-8FC0-1025F9C9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标签与训练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FE9DA-FB6C-4F1A-9133-2BE03DB3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独立审核成功条件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训练 / 校准分开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0F627908-5BD6-4904-8E59-F5377783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7DBCF-2B65-4284-9005-7E0BC74B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路由验证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9D1BC-21E4-493A-BA0E-E263AD23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固定质量与样本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成本、风险和覆盖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618BEB8A-E32E-4F0B-9C89-72D39075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216C6-AF74-417A-9784-85CC69F7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A36F9-F56B-4FF6-A2D4-A0B27361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FAC74-79C3-4E18-A8D8-A0D9FF1B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同任务不同路径离线配对；升级后的成功不自动证明原路径需要升级。</a:t>
            </a:r>
          </a:p>
        </p:txBody>
      </p:sp>
    </p:spTree>
    <p:extLst>
      <p:ext uri="{BB962C8B-B14F-4D97-AF65-F5344CB8AC3E}">
        <p14:creationId xmlns:p14="http://schemas.microsoft.com/office/powerpoint/2010/main" val="1504231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77186-E997-4BF1-9A92-3A0835D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总成本收益优先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47163-0217-46AD-8E25-BD46937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的收费与验收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ABED4-56FA-4D3C-A779-74596802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604BC-E3C9-4AD9-9985-8F3612FA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收费方式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AA1C8-CE5C-404C-AA4B-C96B2207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模型调用按原计费，路由另收用量或套餐服务费；企业版提供策略与 SLA。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EAD2E-69CE-468C-9027-B1C889581A75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质量与覆盖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自动继续覆盖 ≥70%，错误放行率的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总成本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达到相同质量门槛时，比强模型全量路径下降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P95 时延和升级比例达冻结目标，依赖失败有兜底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D8D14-3571-480A-8909-4CD786A5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训练、空闲算力与运维摊销也计入经济性，费用未知时不记为零。</a:t>
            </a:r>
          </a:p>
        </p:txBody>
      </p:sp>
    </p:spTree>
    <p:extLst>
      <p:ext uri="{BB962C8B-B14F-4D97-AF65-F5344CB8AC3E}">
        <p14:creationId xmlns:p14="http://schemas.microsoft.com/office/powerpoint/2010/main" val="15149901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E3ACC-42FB-4AFF-A672-26AF5FD1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面向运营与经营分析团队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DD254-EE6F-424B-990E-E19965D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报表审核：固定经营周报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8F859-5933-473B-BDB4-54CEA44C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01ED4-EC59-469E-9753-3B300CD8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34CC7-31CD-4AB2-9384-D205FEFC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周报中的数字、统计口径和文字结论不一致，人工核对耗时，重要异常遗漏。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6BC11-1F91-4F19-A2D4-336A081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DFD1F-4642-45D3-B578-D347D1B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一份固定周报模板，一个数据源，限定指标，检查数字、口径、引用和结论依据。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C7E94-BF25-433A-AD20-59490289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8632D-041E-4AC5-BA16-672C7336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数据核对、审核问题清单、证据定位、人工修改记录和可追溯报告。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3E1E8-CB7A-4ED7-B790-308160AF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代码负责计算和口径检查，模型检查语义与证据。因果解释需额外依据。</a:t>
            </a:r>
          </a:p>
        </p:txBody>
      </p:sp>
    </p:spTree>
    <p:extLst>
      <p:ext uri="{BB962C8B-B14F-4D97-AF65-F5344CB8AC3E}">
        <p14:creationId xmlns:p14="http://schemas.microsoft.com/office/powerpoint/2010/main" val="4293207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DA232-88B4-4332-83EF-1290EE7E71CC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5B6B3-CC0F-4482-9A59-6518E65C4F4C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D14C4-F613-4D37-9A2F-4E90677AA5B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646DB-130B-492E-9A70-45E4BE4A4E9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38720-45E6-4066-A8FA-065B926713C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D994E-F6E8-4EC2-B66A-C3DF887E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审核修改沉淀为判定样本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F67E-2FA4-477D-8743-3F2FD7B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43FA7-49F8-4F6D-8BD7-172157FB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437CBEFB-766F-4015-871E-1D101AA1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5F1FB-B40B-479D-993B-5F89C9E7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输入冻结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FDE22-6027-48C1-980C-CE9FA5CA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源数据快照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指标与口径版本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64A138E3-23DD-42E3-916C-7968165E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53F73-9F37-4509-9A11-24F1350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分层审核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F05CB-C5B4-4BEA-8212-5A27F11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数字与结构检查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结论证据和异常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2F4B1CD1-56C8-4C48-AA1C-94288D29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EB9ED-1BCE-442C-B439-F33ED25D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人工裁决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F7E8D-B53A-4CEC-BDCB-C30956DF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错误位置与原因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保留修改前后版本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793AC67A-4E8C-4E7B-8125-C7A20E51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DC223-48E2-44F2-8E4B-32546C7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规则更新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BC109-D188-4D5D-BB89-4C57868F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审核 Prompt / 模型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新报表独立验证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87EED896-0F2E-4653-A69F-88EB948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42452-AA35-4100-BCEE-1419076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762B8-DDD4-4FC2-9170-D19DC43D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7A4D8-3154-4184-96D9-F8A10A96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数据按报告周期、部门和模板分组；人工修改不直接视为原报告错误，需记录原因。</a:t>
            </a:r>
          </a:p>
        </p:txBody>
      </p:sp>
    </p:spTree>
    <p:extLst>
      <p:ext uri="{BB962C8B-B14F-4D97-AF65-F5344CB8AC3E}">
        <p14:creationId xmlns:p14="http://schemas.microsoft.com/office/powerpoint/2010/main" val="454851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267C2-5751-454B-8700-CB273283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同时验证审核质量和人工收益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F84FD-300A-47A7-9F70-04DAAFF9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报表审核的收费与验收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D1B7B-178F-49BF-8AE0-7786BA9F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FFCDB-2FD8-4BCF-ABE2-175D6454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收费方式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82180-FA3D-404D-BC82-71729748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按审核报表量或月度订阅收费；数据源接入、模板配置及私有部署单独报价。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91867-BC97-4668-B629-549FE49516A0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数字与口径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约定指标的确定性检查案例 100% 通过，证据可定位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语义审核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关键结论错误漏检率的 95% 上界 ≤5%，误报单列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业务效率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保持审核质量时，人工审核时间下降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6F725-0A9F-4708-B264-8130D02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首单选定一位审核负责人，先确认错误清单和模板，避免泛化为任意报告审核。</a:t>
            </a:r>
          </a:p>
        </p:txBody>
      </p:sp>
    </p:spTree>
    <p:extLst>
      <p:ext uri="{BB962C8B-B14F-4D97-AF65-F5344CB8AC3E}">
        <p14:creationId xmlns:p14="http://schemas.microsoft.com/office/powerpoint/2010/main" val="20918555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CD524-AF20-49FF-A8EE-D530F4AE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面向图片生成与内容运营团队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08ED1-A1F1-4247-98D9-A8D1570C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图片：自动 Review 与提示词优化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A4B38-803D-4A11-B89B-C2500543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47BD2-64D9-46B1-91B0-DA293040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D587C-275A-4DC5-BAAD-1D1F3FFC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同一需求多次生成仍有遗漏、主体或风格偏差，需要人工筛图与修改提示词。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13A7-3B71-4236-83C5-19DC306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MVP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071B-4DA6-4F8F-BC53-BDD4C158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一种业务图片，固定生成模型，明确参考与要求，有限次数 Review 和 Prompt 修订。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2DC71-A808-4D79-8E10-08C3200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86467-60CF-4166-B8B6-DB6ED784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缺陷标签、证据与筛选、提示词差异、重生成预算、人工复核和版本报告。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AB785-DAF3-4040-A87C-AA735435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不锁定电商换装。业务图片由试点客户确定，先定义可交付标准。</a:t>
            </a:r>
          </a:p>
        </p:txBody>
      </p:sp>
    </p:spTree>
    <p:extLst>
      <p:ext uri="{BB962C8B-B14F-4D97-AF65-F5344CB8AC3E}">
        <p14:creationId xmlns:p14="http://schemas.microsoft.com/office/powerpoint/2010/main" val="471312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D00A8-16E9-44BF-AD5E-775B469EBEE3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A2BF2-D49D-4AFB-835A-6C01A34AE05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081DF-615A-4D55-A707-D745596F980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922EF-B1D6-4AAB-926E-46D1EAF363D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752D5-459E-4B27-8E4D-FD8439F67FC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61FA0-7968-43BF-A134-14B7DA9C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自动修订后仍需独立验证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001BB-62CD-4222-8B90-F728DBD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 Review 与提示词优化闭环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0D823-8EF1-44BA-B617-EAF1BB8E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BFC7369A-0444-4F75-BD88-6A1DB10A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A7C59-19F9-4846-90C8-B75505A5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生成与留档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FDDBB-CE0D-464B-AAC6-4D374F98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要求、参考、seed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 / Prompt 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44E7E4BB-F399-48EC-9AE9-9EEB903A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E840A-FB4E-4507-93D1-A403515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4F7BF-1627-4353-999C-727B1FD8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硬缺陷与一致性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低把握转人工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09C0F45C-9BDF-46C3-B988-21B45309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596E9-4B7A-4EF8-9817-BB020645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定向修订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B2B07-FA81-49A6-ACD9-D244F7B3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按缺陷修改 Prompt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限定轮数与成本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E8592F3D-0651-4A93-BB85-511E23C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0ECDF-E9BF-4B63-8922-158A3065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重生成验证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5CB0D-8EB5-4D6F-95E5-55BB821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独立人工盲评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留出任务和成本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2EABDB8-6D04-4A73-8801-0711A907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5CE2C-8DA8-431D-B2E7-E71C67EA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8A73B-9B97-4087-A71D-8BE71353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CC2AD-AE3D-4A3D-9305-9331A83A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同任务、素材与派生候选保持同组；美观高分不能抵消核心条件失败。</a:t>
            </a:r>
          </a:p>
        </p:txBody>
      </p:sp>
    </p:spTree>
    <p:extLst>
      <p:ext uri="{BB962C8B-B14F-4D97-AF65-F5344CB8AC3E}">
        <p14:creationId xmlns:p14="http://schemas.microsoft.com/office/powerpoint/2010/main" val="1070547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E8C1B-36F8-422E-9B2B-703AF0A3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按合格产物核算价值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93419-9C4A-4EEA-B36E-66594C3F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图片闭环的收费与验收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18614-5F60-4DB7-9F6C-463D3B16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62266-D7D4-43D4-AA63-2D92D83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收费方式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5166A-B92F-4A3A-A675-FEB9606D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按审核处理量或工作流套餐收费，生成、重试与接入费用分别列项。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E0731-C30B-4640-8F24-9D29E6B8901C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审核可靠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自动通过覆盖 ≥60%，误放行率的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可交付率提高 ≥10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在相同可交付标准下，每张合格图片总成本下降 ≥20%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B3CC5-92DD-4D80-A229-3C962EE4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生成、审核、失败重试和人工筛图全部计成本；达预算仍失败时明确转人工。</a:t>
            </a:r>
          </a:p>
        </p:txBody>
      </p:sp>
    </p:spTree>
    <p:extLst>
      <p:ext uri="{BB962C8B-B14F-4D97-AF65-F5344CB8AC3E}">
        <p14:creationId xmlns:p14="http://schemas.microsoft.com/office/powerpoint/2010/main" val="1484362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C35C7E-361A-4AE5-8C37-3D5142C4F160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63000" y="50958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669C1-5116-48F1-A6D4-7BB125C6B279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425113" y="3667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2006DC-CF18-491F-973A-B76A86E8563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29338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C64F0-6737-4648-94D4-9DF8F2A0E8F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686300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422CE-760F-4DE5-885B-0974EC41706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6300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F3E93-87FF-4B16-9097-339215B5EE0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76925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D77A0-70DF-4529-970F-16F91517B8B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C43C9-24D3-42F6-AA57-01B22FE1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建设方案  /  四个方向的任务标准分别管理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F3B8F-C256-431A-BD7A-F07507BE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共用评估与版本底座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B46CC-2F42-4E02-9E69-5892A3C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business">
            <a:extLst xmlns:a="http://schemas.openxmlformats.org/drawingml/2006/main">
              <a:ext uri="{FF2B5EF4-FFF2-40B4-BE49-F238E27FC236}">
                <a16:creationId xmlns:a16="http://schemas.microsoft.com/office/drawing/2014/main" id="{1F4CEED2-F0A1-4439-B5FD-12F21062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D122C-9790-4EF7-B42F-60376FB7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业务适配层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D16BF-A872-4181-BA7C-1A974272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/ TokenHub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 / 图片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884FE660-4560-4B0D-92C7-D72247D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250D2-4582-42EE-88A8-72C84017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数据与标签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C5292-B656-4D20-BA35-583A23C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输入、结果、证据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开发 / 校准 / 留出</a:t>
            </a:r>
          </a:p>
        </p:txBody>
      </p:sp>
      <p:sp>
        <p:nvSpPr>
          <p:cNvPr id="10" name="eval">
            <a:extLst xmlns:a="http://schemas.openxmlformats.org/drawingml/2006/main">
              <a:ext uri="{FF2B5EF4-FFF2-40B4-BE49-F238E27FC236}">
                <a16:creationId xmlns:a16="http://schemas.microsoft.com/office/drawing/2014/main" id="{CC84A2BB-891A-4ECD-8420-58ED7A1D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3A59C-1925-4790-8817-AB597B9E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分层评估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55ED7-B4AE-445D-B7A3-2748F7CA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代码、模型与人工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标准与裁判版本</a:t>
            </a:r>
          </a:p>
        </p:txBody>
      </p:sp>
      <p:sp>
        <p:nvSpPr>
          <p:cNvPr id="13" name="opt">
            <a:extLst xmlns:a="http://schemas.openxmlformats.org/drawingml/2006/main">
              <a:ext uri="{FF2B5EF4-FFF2-40B4-BE49-F238E27FC236}">
                <a16:creationId xmlns:a16="http://schemas.microsoft.com/office/drawing/2014/main" id="{9C2B3144-7E60-4DD3-82F5-78745091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38375"/>
            <a:ext cx="2314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B99D3-F9D1-49C3-A851-F1F48A7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81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受控优化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AB86A-B949-468A-9938-7D55A515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19716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Prompt / Skill / 路由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专用模型训练</a:t>
            </a:r>
          </a:p>
        </p:txBody>
      </p:sp>
      <p:sp>
        <p:nvSpPr>
          <p:cNvPr id="19" name="registry">
            <a:extLst xmlns:a="http://schemas.openxmlformats.org/drawingml/2006/main">
              <a:ext uri="{FF2B5EF4-FFF2-40B4-BE49-F238E27FC236}">
                <a16:creationId xmlns:a16="http://schemas.microsoft.com/office/drawing/2014/main" id="{368DA57D-B76D-49DA-BA2C-80436BDD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24375"/>
            <a:ext cx="5267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00EA9-E971-4435-8C07-62BAE4C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67250"/>
            <a:ext cx="4924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证据与版本登记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1A9D4-805E-483F-A627-F0B20EF7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43500"/>
            <a:ext cx="4924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配置、权重、数据、费用、运行 ID 和接受理由</a:t>
            </a:r>
          </a:p>
        </p:txBody>
      </p:sp>
      <p:sp>
        <p:nvSpPr>
          <p:cNvPr id="22" name="release">
            <a:extLst xmlns:a="http://schemas.openxmlformats.org/drawingml/2006/main">
              <a:ext uri="{FF2B5EF4-FFF2-40B4-BE49-F238E27FC236}">
                <a16:creationId xmlns:a16="http://schemas.microsoft.com/office/drawing/2014/main" id="{C9A351EB-6672-4FFB-A708-ED4B93D0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24375"/>
            <a:ext cx="2314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94690-A67C-464D-B266-9526F003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67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独立验收与发布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94727-B696-4091-8F73-A4E869C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43500"/>
            <a:ext cx="1971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收益门槛、灰度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实际继承与回滚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2256E-0F83-4D7E-B7E7-BF56E979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接口统一，业务标准独立。裁判自评、采用记录和普通追问不能替代正确标签。</a:t>
            </a:r>
          </a:p>
        </p:txBody>
      </p:sp>
    </p:spTree>
    <p:extLst>
      <p:ext uri="{BB962C8B-B14F-4D97-AF65-F5344CB8AC3E}">
        <p14:creationId xmlns:p14="http://schemas.microsoft.com/office/powerpoint/2010/main" val="1826131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BE50B-9809-457A-B590-F1001E4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研发主线  /  一个固定任务先验证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BCE09-0829-439C-8BF8-10AEFE7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Decision 小模型的建设与复用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D9E68-68E6-4F1C-8066-D5DBB3D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6E84B-3EBE-4E2D-940A-168E1E5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数据与标注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B2F62-B1C0-41B8-B319-1EC93D9E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采集决策前状态和后验结果，双人独立标注，分歧裁决，按任务组隔离。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66664-4821-4FC5-896D-196923CE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训练与验证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03F78-3847-4A8C-8671-47ECB44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先比较规则与强模型基线，训练固定任务小模型，独立校准概率和验收风险。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3B1E-5A11-4750-BE6A-283F8336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ABB54-439D-4EDE-AA1C-BFFC831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优先承担质量路由的升级判断；研发与报表单独验证，图片采用独立视觉能力。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DE0D7-6869-4865-AA94-C2C7F6F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按客户和任务积累标签后再扩展分类、选择与排序，不承诺任意新任务直接可用。</a:t>
            </a:r>
          </a:p>
        </p:txBody>
      </p:sp>
    </p:spTree>
    <p:extLst>
      <p:ext uri="{BB962C8B-B14F-4D97-AF65-F5344CB8AC3E}">
        <p14:creationId xmlns:p14="http://schemas.microsoft.com/office/powerpoint/2010/main" val="9777989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78683-21AC-44DF-B060-27F6030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实施建议  /  集中交付，按阶段决定是否继续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5C973-7384-4D9E-A554-627A5EE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三个月的落地安排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FA174-3751-47FE-9FB4-EB527B84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31417-67FD-4344-8E15-F49D3671DBA1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248025"/>
                <a:gridCol w="3248025"/>
                <a:gridCol w="3048000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研发与交付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继续投入条件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1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共用评估底座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基线与接口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确认数据、标准和负责人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访谈四方向试点客户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任务可重放，标签可信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范围与门槛冻结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受控闭环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路由影子运行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选报表或图片一个试点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接入样本并做基线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独立质量证据成立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成本模型可核算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前两项验收与灰度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所选业务试点交付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完成付费试点评审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决定后续扩展顺序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收益成立且客户认可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交付成本可重复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A6E0F-FE53-43FD-9425-6E38477A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报表与图片先择一试点；客户数据与付费条件成熟时，可调整优先级。</a:t>
            </a:r>
          </a:p>
        </p:txBody>
      </p:sp>
    </p:spTree>
    <p:extLst>
      <p:ext uri="{BB962C8B-B14F-4D97-AF65-F5344CB8AC3E}">
        <p14:creationId xmlns:p14="http://schemas.microsoft.com/office/powerpoint/2010/main" val="9065445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B448B-4EE6-4FE5-B57A-F1D71C12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管理层决策  /  四个商业方向，先做有限试点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220C6-40F1-414E-9A96-BAFD92DA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本次需要确认的立项事项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C9D87-8B9B-4699-8841-FB6EABDA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687A0-1DC2-4751-BF1D-13E837C8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首期范围与责任人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F10CC-B470-4818-97ED-0627A4B3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确认 AutoDev 一类任务、TokenHub 一种路由；报表与图片选一个客户试点。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1EBCB-39A0-4863-9348-E4A439B3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资源与交付预算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8AEF1-86EE-497F-A3A9-EACAEF14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2422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落实工程、算法、数据评估与客户接口，预算包含标注、推理、训练和接入。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F9536-4B2F-4EC6-B0D7-2F8E8454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验收与商业门槛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715E8-72FE-4434-BBA0-0910EE11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624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试点前冻结质量和收益标准，约定收费单位、处理量、升级范围和停止条件。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B5FC5-19F1-4975-B574-45C622DA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成功证据先于扩大投入。四个方向分别出具质量、成本与客户验收结论。</a:t>
            </a:r>
          </a:p>
        </p:txBody>
      </p:sp>
    </p:spTree>
    <p:extLst>
      <p:ext uri="{BB962C8B-B14F-4D97-AF65-F5344CB8AC3E}">
        <p14:creationId xmlns:p14="http://schemas.microsoft.com/office/powerpoint/2010/main" val="1380686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2026-10-13T02:56:26.9000000Z</dcterms:created>
  <dcterms:modified xsi:type="dcterms:W3CDTF">2026-10-13T02:56:26.9000000Z</dcterms:modified>
</coreProperties>
</file>