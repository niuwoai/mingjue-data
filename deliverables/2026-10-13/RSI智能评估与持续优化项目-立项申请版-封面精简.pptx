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d8df49a484a40" /><Relationship Type="http://schemas.openxmlformats.org/officeDocument/2006/relationships/extended-properties" Target="/docProps/app.xml" Id="R358f364e27d14b63" /><Relationship Type="http://schemas.openxmlformats.org/officeDocument/2006/relationships/officeDocument" Target="/ppt/presentation.xml" Id="R156d216bb5d444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7c7863f51490b"/>
  </p:sldMasterIdLst>
  <p:notesMasterIdLst>
    <p:notesMasterId xmlns:r="http://schemas.openxmlformats.org/officeDocument/2006/relationships" r:id="Rf36ba4fcfc5f4e0c"/>
  </p:notesMasterIdLst>
  <p:sldIdLst>
    <p:sldId xmlns:r="http://schemas.openxmlformats.org/officeDocument/2006/relationships" id="256" r:id="R2b90862b0ce14bd7"/>
    <p:sldId xmlns:r="http://schemas.openxmlformats.org/officeDocument/2006/relationships" id="257" r:id="R003a77f763034cb9"/>
    <p:sldId xmlns:r="http://schemas.openxmlformats.org/officeDocument/2006/relationships" id="258" r:id="R5e3dfd0b4f9f4c7d"/>
    <p:sldId xmlns:r="http://schemas.openxmlformats.org/officeDocument/2006/relationships" id="259" r:id="R1be29699ef334378"/>
    <p:sldId xmlns:r="http://schemas.openxmlformats.org/officeDocument/2006/relationships" id="260" r:id="R0eb874cca2004a74"/>
    <p:sldId xmlns:r="http://schemas.openxmlformats.org/officeDocument/2006/relationships" id="261" r:id="R06e97523ffc64277"/>
    <p:sldId xmlns:r="http://schemas.openxmlformats.org/officeDocument/2006/relationships" id="262" r:id="R2e3bfe3942c64eee"/>
    <p:sldId xmlns:r="http://schemas.openxmlformats.org/officeDocument/2006/relationships" id="263" r:id="R897407bc24f04d75"/>
    <p:sldId xmlns:r="http://schemas.openxmlformats.org/officeDocument/2006/relationships" id="264" r:id="Ra1a11b355a1b400e"/>
    <p:sldId xmlns:r="http://schemas.openxmlformats.org/officeDocument/2006/relationships" id="265" r:id="Rf1c76c87bd574a2c"/>
    <p:sldId xmlns:r="http://schemas.openxmlformats.org/officeDocument/2006/relationships" id="266" r:id="R09afa6ef7efe4cc7"/>
    <p:sldId xmlns:r="http://schemas.openxmlformats.org/officeDocument/2006/relationships" id="267" r:id="R3931ae61539049ff"/>
    <p:sldId xmlns:r="http://schemas.openxmlformats.org/officeDocument/2006/relationships" id="268" r:id="Reeef64b32f704789"/>
    <p:sldId xmlns:r="http://schemas.openxmlformats.org/officeDocument/2006/relationships" id="269" r:id="Rf4db48b146ea4053"/>
    <p:sldId xmlns:r="http://schemas.openxmlformats.org/officeDocument/2006/relationships" id="270" r:id="Re6a535a1a9914c13"/>
    <p:sldId xmlns:r="http://schemas.openxmlformats.org/officeDocument/2006/relationships" id="271" r:id="Rc21e7f62c2494224"/>
    <p:sldId xmlns:r="http://schemas.openxmlformats.org/officeDocument/2006/relationships" id="272" r:id="R7805c83c696f4a7f"/>
    <p:sldId xmlns:r="http://schemas.openxmlformats.org/officeDocument/2006/relationships" id="273" r:id="R0b7bfb894d844cbd"/>
    <p:sldId xmlns:r="http://schemas.openxmlformats.org/officeDocument/2006/relationships" id="274" r:id="R8bc0c38af5874403"/>
    <p:sldId xmlns:r="http://schemas.openxmlformats.org/officeDocument/2006/relationships" id="275" r:id="R2ca1efdbf16b4913"/>
    <p:sldId xmlns:r="http://schemas.openxmlformats.org/officeDocument/2006/relationships" id="276" r:id="Re87f49f8a0b546c4"/>
    <p:sldId xmlns:r="http://schemas.openxmlformats.org/officeDocument/2006/relationships" id="277" r:id="R67af2541c7754e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413cb2c6c4988" /><Relationship Type="http://schemas.openxmlformats.org/officeDocument/2006/relationships/slideMaster" Target="/ppt/slideMasters/slideMaster1.xml" Id="R5a47c7863f51490b" /><Relationship Type="http://schemas.openxmlformats.org/officeDocument/2006/relationships/notesMaster" Target="/ppt/notesMasters/notesMaster1.xml" Id="Rf36ba4fcfc5f4e0c" /><Relationship Type="http://schemas.openxmlformats.org/officeDocument/2006/relationships/presProps" Target="/ppt/presProps.xml" Id="R6ccb4823920846d3" /><Relationship Type="http://schemas.openxmlformats.org/officeDocument/2006/relationships/tableStyles" Target="/ppt/tableStyles.xml" Id="R726fdd2258ff4a6c" /><Relationship Type="http://schemas.openxmlformats.org/officeDocument/2006/relationships/slide" Target="/ppt/slides/slide1.xml" Id="R2b90862b0ce14bd7" /><Relationship Type="http://schemas.openxmlformats.org/officeDocument/2006/relationships/slide" Target="/ppt/slides/slide2.xml" Id="R003a77f763034cb9" /><Relationship Type="http://schemas.openxmlformats.org/officeDocument/2006/relationships/slide" Target="/ppt/slides/slide3.xml" Id="R5e3dfd0b4f9f4c7d" /><Relationship Type="http://schemas.openxmlformats.org/officeDocument/2006/relationships/slide" Target="/ppt/slides/slide4.xml" Id="R1be29699ef334378" /><Relationship Type="http://schemas.openxmlformats.org/officeDocument/2006/relationships/slide" Target="/ppt/slides/slide5.xml" Id="R0eb874cca2004a74" /><Relationship Type="http://schemas.openxmlformats.org/officeDocument/2006/relationships/slide" Target="/ppt/slides/slide6.xml" Id="R06e97523ffc64277" /><Relationship Type="http://schemas.openxmlformats.org/officeDocument/2006/relationships/slide" Target="/ppt/slides/slide7.xml" Id="R2e3bfe3942c64eee" /><Relationship Type="http://schemas.openxmlformats.org/officeDocument/2006/relationships/slide" Target="/ppt/slides/slide8.xml" Id="R897407bc24f04d75" /><Relationship Type="http://schemas.openxmlformats.org/officeDocument/2006/relationships/slide" Target="/ppt/slides/slide9.xml" Id="Ra1a11b355a1b400e" /><Relationship Type="http://schemas.openxmlformats.org/officeDocument/2006/relationships/slide" Target="/ppt/slides/slide10.xml" Id="Rf1c76c87bd574a2c" /><Relationship Type="http://schemas.openxmlformats.org/officeDocument/2006/relationships/slide" Target="/ppt/slides/slide11.xml" Id="R09afa6ef7efe4cc7" /><Relationship Type="http://schemas.openxmlformats.org/officeDocument/2006/relationships/slide" Target="/ppt/slides/slide12.xml" Id="R3931ae61539049ff" /><Relationship Type="http://schemas.openxmlformats.org/officeDocument/2006/relationships/slide" Target="/ppt/slides/slide13.xml" Id="Reeef64b32f704789" /><Relationship Type="http://schemas.openxmlformats.org/officeDocument/2006/relationships/slide" Target="/ppt/slides/slide14.xml" Id="Rf4db48b146ea4053" /><Relationship Type="http://schemas.openxmlformats.org/officeDocument/2006/relationships/slide" Target="/ppt/slides/slide15.xml" Id="Re6a535a1a9914c13" /><Relationship Type="http://schemas.openxmlformats.org/officeDocument/2006/relationships/slide" Target="/ppt/slides/slide16.xml" Id="Rc21e7f62c2494224" /><Relationship Type="http://schemas.openxmlformats.org/officeDocument/2006/relationships/slide" Target="/ppt/slides/slide17.xml" Id="R7805c83c696f4a7f" /><Relationship Type="http://schemas.openxmlformats.org/officeDocument/2006/relationships/slide" Target="/ppt/slides/slide18.xml" Id="R0b7bfb894d844cbd" /><Relationship Type="http://schemas.openxmlformats.org/officeDocument/2006/relationships/slide" Target="/ppt/slides/slide19.xml" Id="R8bc0c38af5874403" /><Relationship Type="http://schemas.openxmlformats.org/officeDocument/2006/relationships/slide" Target="/ppt/slides/slide20.xml" Id="R2ca1efdbf16b4913" /><Relationship Type="http://schemas.openxmlformats.org/officeDocument/2006/relationships/slide" Target="/ppt/slides/slide21.xml" Id="Re87f49f8a0b546c4" /><Relationship Type="http://schemas.openxmlformats.org/officeDocument/2006/relationships/slide" Target="/ppt/slides/slide22.xml" Id="R67af2541c7754e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9e06ad779d46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b27c74a8814668" /><Relationship Type="http://schemas.openxmlformats.org/officeDocument/2006/relationships/notesMaster" Target="/ppt/notesMasters/notesMaster1.xml" Id="R692e1961b5d343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8e561f38e4679" /><Relationship Type="http://schemas.openxmlformats.org/officeDocument/2006/relationships/notesMaster" Target="/ppt/notesMasters/notesMaster1.xml" Id="Re71f70051bea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1d1a22ecb943e4" /><Relationship Type="http://schemas.openxmlformats.org/officeDocument/2006/relationships/notesMaster" Target="/ppt/notesMasters/notesMaster1.xml" Id="R691852513c344d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0e205f1ec945b1" /><Relationship Type="http://schemas.openxmlformats.org/officeDocument/2006/relationships/notesMaster" Target="/ppt/notesMasters/notesMaster1.xml" Id="Rc6cb4c5fb41048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176b85ea164534" /><Relationship Type="http://schemas.openxmlformats.org/officeDocument/2006/relationships/notesMaster" Target="/ppt/notesMasters/notesMaster1.xml" Id="R896fd152fa9641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d1cc644ea4e4e" /><Relationship Type="http://schemas.openxmlformats.org/officeDocument/2006/relationships/notesMaster" Target="/ppt/notesMasters/notesMaster1.xml" Id="R5b7b7e755e10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704e007bf468c" /><Relationship Type="http://schemas.openxmlformats.org/officeDocument/2006/relationships/notesMaster" Target="/ppt/notesMasters/notesMaster1.xml" Id="Rc89f6907b42d4a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382185501a4452" /><Relationship Type="http://schemas.openxmlformats.org/officeDocument/2006/relationships/notesMaster" Target="/ppt/notesMasters/notesMaster1.xml" Id="R0561e9eae08548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b1d6ae6a564027" /><Relationship Type="http://schemas.openxmlformats.org/officeDocument/2006/relationships/notesMaster" Target="/ppt/notesMasters/notesMaster1.xml" Id="R9ba9a84886cc49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0507d74f524c8a" /><Relationship Type="http://schemas.openxmlformats.org/officeDocument/2006/relationships/notesMaster" Target="/ppt/notesMasters/notesMaster1.xml" Id="R09feb981928045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940b53bd264912" /><Relationship Type="http://schemas.openxmlformats.org/officeDocument/2006/relationships/notesMaster" Target="/ppt/notesMasters/notesMaster1.xml" Id="Rbb22f26cf9944f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a749b7d4fa4fa2" /><Relationship Type="http://schemas.openxmlformats.org/officeDocument/2006/relationships/notesMaster" Target="/ppt/notesMasters/notesMaster1.xml" Id="R1a8c305ce92740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cf739ee7384c31" /><Relationship Type="http://schemas.openxmlformats.org/officeDocument/2006/relationships/notesMaster" Target="/ppt/notesMasters/notesMaster1.xml" Id="Rbf45cbc1df4141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aecf1368db4394" /><Relationship Type="http://schemas.openxmlformats.org/officeDocument/2006/relationships/notesMaster" Target="/ppt/notesMasters/notesMaster1.xml" Id="R60492c14b2ef47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08c9701b524458" /><Relationship Type="http://schemas.openxmlformats.org/officeDocument/2006/relationships/notesMaster" Target="/ppt/notesMasters/notesMaster1.xml" Id="Rcd92af2ea05944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31811ab3f349c3" /><Relationship Type="http://schemas.openxmlformats.org/officeDocument/2006/relationships/notesMaster" Target="/ppt/notesMasters/notesMaster1.xml" Id="R817d2260ffb045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13d157f9cb42ae" /><Relationship Type="http://schemas.openxmlformats.org/officeDocument/2006/relationships/notesMaster" Target="/ppt/notesMasters/notesMaster1.xml" Id="R69e64acb7c9544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36a63e45264691" /><Relationship Type="http://schemas.openxmlformats.org/officeDocument/2006/relationships/notesMaster" Target="/ppt/notesMasters/notesMaster1.xml" Id="Ref5c9a42c0274e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34c4516e844008" /><Relationship Type="http://schemas.openxmlformats.org/officeDocument/2006/relationships/notesMaster" Target="/ppt/notesMasters/notesMaster1.xml" Id="R8eb0a3e3608644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daadd8cdd54a43" /><Relationship Type="http://schemas.openxmlformats.org/officeDocument/2006/relationships/notesMaster" Target="/ppt/notesMasters/notesMaster1.xml" Id="Ra3795010e9544c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41ca5242984594" /><Relationship Type="http://schemas.openxmlformats.org/officeDocument/2006/relationships/notesMaster" Target="/ppt/notesMasters/notesMaster1.xml" Id="R8cdf9efe18be4c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713e5e40224a84" /><Relationship Type="http://schemas.openxmlformats.org/officeDocument/2006/relationships/notesMaster" Target="/ppt/notesMasters/notesMaster1.xml" Id="R0ec93096f49e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本项目申请以三个月为周期启动MVP能力建设。行业案例用于说明技术路径，不代表公司已有对应效果。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本项目采用应用层RSI工程路径：依据反馈改进配置或专用模型，独立验证并保存，让改进后的版本参与下一轮运行与优化。是否产生持续收益以独立任务和版本对照为依据。首期不承诺通用模型无限自主升级。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公开资料核对于2026-10-13。Braintrust官方描述Loop agent支持评估、测试用例生成与提示词迭代，属于商业产品能力，不能据此认定已证明强RSI。Google DeepMind官方介绍AlphaEvolve结合程序候选、自动评估和进化搜索，其发现的算法已用于数据中心等生产场景；算法优化案例不等于通用模型权重持续自主提升。Sakana DGM属于编码Agent自修改研究，使用SWE-bench等基准验证，不能把研究成绩视为企业生产收益。来源：https://www.braintrust.dev/pricing https://deepmind.google/blog/alphaevolve-a-gemini-powered-coding-agent-for-designing-advanced-algorithms/ 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以下为项目价值主张，不是当前收益结论。需要在MVP试点中测量质量、总成本与复用效果，避免以模型自评或事件数量代替证明。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申请启动三个月MVP项目并明确工程、算法、数据评估和伙伴协作负责人。人员投入与算力/标注预算在正式立项时核定，本文不编造金额或已有资源承诺。三个月先形成自有平台闭环与一个伙伴技能试点，不承诺四个场景同时完整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有平台优先安排内部研发投入。AutoDev需可重放任务和配置接口，TokenHub需质量标签与完整成本。报表和图片由伙伴负责业务落地；我们提供可复用Skill、接口、评估和问题支持。伙伴数据与标准成熟时，赋能试点可并行提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测试通过仅证明测试覆盖的条件。独立任务组配对比较，记录资源和不确定结果。不得自动修改生产权限或任意代码。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成功率提升5个百分点为建议目标，同时任务组配对95%差异区间下界&gt;0。样本不足时扩大独立任务。成本与时延上限需根据客户基线约定。没有收益时分别报告平台功能通过和优化收益未通过。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起步可以规则+强模型判断，模型达标后引入自己的decision权重。用户点击与模型自报不能作为金标，拒判不算正确预测。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自动继续覆盖率分母为冻结范围内有效且有金标的样本，另报全部请求覆盖率。风险为自动继续中的错误放行。95%上界须满足门槛，相关样本按group bootstrap。保持与强模型全量基线相同的质量底线，质量与成本必须在同条件下实测。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先只优化审核器，生成器保持固定以利归因。若后续优化报表生成提示词，使用独立审核标准，防止生成器和裁判一起迎合评分。数字必须对照冻结源数据。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数值为建议。数字/口径检查100%仅覆盖约定指标与测试案例，不代表任意财务/业务数据。关键语义错误漏检按独立人工金标测量，95%上界&lt;=5%。人工时间在相同质量标准下比较，不能只测模型推理时延。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使用授权素材，不向未授权外部服务发送客户数据。审核器标准在一轮优化内固定，不能仅用同一裁判分数上涨证明合格率提高。线上每任务建议最多两轮重生成，运行预算由伙伴与我们共同确认。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可交付率按全部任务在固定预算内获得至少一张合格图计算，失败任务保留在分母。采用同输入/相同总预算对照并按任务组给区间。误放行以自动通过中的独立人工不合格为分母，按冻结标准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该图为建议架构。独立验证集权限分离；主干API可借用已有需求契约：datasets、evaluation-jobs、validation-jobs、releases、rollback。服务接口需要联调确认，不表示当前四场景已有运行部署。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源自本地Decision MVP需求。金标由独立人工或可靠可执行证据形成。模型开发、校准、锁定测试隔离；概率不能来自模型文字自报。文本决策模型不能直接替代图片视觉审核器；图片需单独视觉模型及其校准。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采用相对月份，实际启动日和人力未定。不是四个方向三个月全部商业发布的承诺。官网/其他产品优先级与资源冲突在立项时确认，不把兼职排期当全职投入。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cde58468a41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d478d007c45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8355aaaa740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a0d1743784b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7e3c85b774e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c3eee69ae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BD85B-5CE0-4C40-8960-D6ED3CB58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EEF822-C417-47DF-BCA4-1CEAB725D2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F9B901-7055-4A68-9FC0-AA98DEDB3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13C6A4-484D-492E-BE3C-9F4A0DD93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E40F07-2663-4AF5-8879-8ADA834F99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92BBF4-6BAE-40BA-A7FA-0C1A8E05C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2575BE-6019-4630-B1EB-356F1534E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0FB68C-9036-47C3-B50D-977E58F6FF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31882-68F8-4B11-B1ED-59E22A422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59D457-EE80-41A1-973E-485A3E0786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9da3f4a2e4a1f" /><Relationship Type="http://schemas.openxmlformats.org/officeDocument/2006/relationships/slideLayout" Target="/ppt/slideLayouts/slideLayout1.xml" Id="R3a6b0fbf808446ff" /><Relationship Type="http://schemas.openxmlformats.org/officeDocument/2006/relationships/slideLayout" Target="/ppt/slideLayouts/slideLayout2.xml" Id="R5ef7b26c7cf84526" /><Relationship Type="http://schemas.openxmlformats.org/officeDocument/2006/relationships/slideLayout" Target="/ppt/slideLayouts/slideLayout3.xml" Id="R33ceda103a394e28" /><Relationship Type="http://schemas.openxmlformats.org/officeDocument/2006/relationships/slideLayout" Target="/ppt/slideLayouts/slideLayout4.xml" Id="R77bc3dd2af77443f" /><Relationship Type="http://schemas.openxmlformats.org/officeDocument/2006/relationships/slideLayout" Target="/ppt/slideLayouts/slideLayout5.xml" Id="Rcbc79356279f4c38" /><Relationship Type="http://schemas.openxmlformats.org/officeDocument/2006/relationships/slideLayout" Target="/ppt/slideLayouts/slideLayout6.xml" Id="Ra1f0488e59cb49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b0fbf808446ff"/>
    <p:sldLayoutId xmlns:r="http://schemas.openxmlformats.org/officeDocument/2006/relationships" id="2147483650" r:id="R5ef7b26c7cf84526"/>
    <p:sldLayoutId xmlns:r="http://schemas.openxmlformats.org/officeDocument/2006/relationships" id="2147483651" r:id="R33ceda103a394e28"/>
    <p:sldLayoutId xmlns:r="http://schemas.openxmlformats.org/officeDocument/2006/relationships" id="2147483652" r:id="R77bc3dd2af77443f"/>
    <p:sldLayoutId xmlns:r="http://schemas.openxmlformats.org/officeDocument/2006/relationships" id="2147483653" r:id="Rcbc79356279f4c38"/>
    <p:sldLayoutId xmlns:r="http://schemas.openxmlformats.org/officeDocument/2006/relationships" id="2147483654" r:id="Ra1f0488e59cb49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fac91f888463f" /><Relationship Type="http://schemas.openxmlformats.org/officeDocument/2006/relationships/notesSlide" Target="/ppt/notesSlides/notesSlide1.xml" Id="Raf2cf6f1884d4c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78d528af947ab" /><Relationship Type="http://schemas.openxmlformats.org/officeDocument/2006/relationships/notesSlide" Target="/ppt/notesSlides/notesSlide2.xml" Id="R38e50a63bf4a4f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51cc7be5b4ea4" /><Relationship Type="http://schemas.openxmlformats.org/officeDocument/2006/relationships/notesSlide" Target="/ppt/notesSlides/notesSlide3.xml" Id="R19a11ce15ed141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1dec3e5ba45b1" /><Relationship Type="http://schemas.openxmlformats.org/officeDocument/2006/relationships/notesSlide" Target="/ppt/notesSlides/notesSlide4.xml" Id="R2b503ec45f7542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a0ee547d74992" /><Relationship Type="http://schemas.openxmlformats.org/officeDocument/2006/relationships/notesSlide" Target="/ppt/notesSlides/notesSlide5.xml" Id="Rd115437c075c44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0c725f99046a6" /><Relationship Type="http://schemas.openxmlformats.org/officeDocument/2006/relationships/notesSlide" Target="/ppt/notesSlides/notesSlide6.xml" Id="Raef5b15eeadc4e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ba20090f94b07" /><Relationship Type="http://schemas.openxmlformats.org/officeDocument/2006/relationships/notesSlide" Target="/ppt/notesSlides/notesSlide7.xml" Id="R5e56a82e62ee40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e5f2753db450e" /><Relationship Type="http://schemas.openxmlformats.org/officeDocument/2006/relationships/notesSlide" Target="/ppt/notesSlides/notesSlide8.xml" Id="Rcf7ef4d78c224f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225b201aa457c" /><Relationship Type="http://schemas.openxmlformats.org/officeDocument/2006/relationships/notesSlide" Target="/ppt/notesSlides/notesSlide9.xml" Id="R94b0de9f221a4d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784d5cf7c4d16" /><Relationship Type="http://schemas.openxmlformats.org/officeDocument/2006/relationships/notesSlide" Target="/ppt/notesSlides/notesSlide10.xml" Id="R7bbc0e56b19946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cdfaa2771460e" /><Relationship Type="http://schemas.openxmlformats.org/officeDocument/2006/relationships/notesSlide" Target="/ppt/notesSlides/notesSlide11.xml" Id="R855431bbd61549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f43f9282f4e37" /><Relationship Type="http://schemas.openxmlformats.org/officeDocument/2006/relationships/notesSlide" Target="/ppt/notesSlides/notesSlide12.xml" Id="R8924816179274a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b9e42e8d94af3" /><Relationship Type="http://schemas.openxmlformats.org/officeDocument/2006/relationships/notesSlide" Target="/ppt/notesSlides/notesSlide13.xml" Id="Rf9ea855da87f4c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0000dc8cb4f62" /><Relationship Type="http://schemas.openxmlformats.org/officeDocument/2006/relationships/notesSlide" Target="/ppt/notesSlides/notesSlide14.xml" Id="R7f1748f76ad74f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29d33343446d6" /><Relationship Type="http://schemas.openxmlformats.org/officeDocument/2006/relationships/notesSlide" Target="/ppt/notesSlides/notesSlide15.xml" Id="R576f13eca95d49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261a3f3e7476e" /><Relationship Type="http://schemas.openxmlformats.org/officeDocument/2006/relationships/notesSlide" Target="/ppt/notesSlides/notesSlide16.xml" Id="Re21ba4dafaf04e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e2e438a65432a" /><Relationship Type="http://schemas.openxmlformats.org/officeDocument/2006/relationships/notesSlide" Target="/ppt/notesSlides/notesSlide17.xml" Id="R0bd53cca234344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a2de578cf4248" /><Relationship Type="http://schemas.openxmlformats.org/officeDocument/2006/relationships/notesSlide" Target="/ppt/notesSlides/notesSlide18.xml" Id="Rae7667a1d13643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1acedf2d24cbd" /><Relationship Type="http://schemas.openxmlformats.org/officeDocument/2006/relationships/notesSlide" Target="/ppt/notesSlides/notesSlide19.xml" Id="R86d92bae010e47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7546bf1b34a74" /><Relationship Type="http://schemas.openxmlformats.org/officeDocument/2006/relationships/notesSlide" Target="/ppt/notesSlides/notesSlide20.xml" Id="Reaea86b8289e4c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cd61d403b474a" /><Relationship Type="http://schemas.openxmlformats.org/officeDocument/2006/relationships/notesSlide" Target="/ppt/notesSlides/notesSlide21.xml" Id="R36cc9fb03ab04c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8eb6b066441b7" /><Relationship Type="http://schemas.openxmlformats.org/officeDocument/2006/relationships/notesSlide" Target="/ppt/notesSlides/notesSlide22.xml" Id="R95944bf66e7f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FFA02-C32D-48E2-92FE-A2E4F55D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立项申请  /  2026.10.13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0C050-0C59-4FCF-B82C-A8A29C6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72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RSI 智能评估与持续优化项目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729AC-568B-4A5A-A742-F2A417D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039A6-6161-4062-9B46-96D1BC1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自有平台提质增效，合作伙伴技能赋能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17E3-0419-4CB8-8FF7-53EE124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构建可评估、可优化、可验证的应用能力</a:t>
            </a:r>
          </a:p>
        </p:txBody>
      </p:sp>
    </p:spTree>
    <p:extLst>
      <p:ext uri="{BB962C8B-B14F-4D97-AF65-F5344CB8AC3E}">
        <p14:creationId xmlns:p14="http://schemas.microsoft.com/office/powerpoint/2010/main" val="66669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8729F-F4D9-4A61-A7A9-B89FB52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项目背景  /  递归自我改进（Recursive Self-Improvement）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E7B35-4088-4B50-A275-1C887A4D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RSI：让有效改进进入下一轮运行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1ED63-A593-410B-B014-21582C02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B851-DEBD-44B4-9581-9DE76432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核心机制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18C8A-DABB-474B-B615-BAB4877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系统根据执行反馈提出改进，验证后保留有效版本，作为下一轮运行与优化的起点。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B67A7-B9AE-4481-A19F-2D1F70C0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改进对象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24481-DC8C-4884-8152-8D40D8D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提示词、技能、工作流与路由策略；固定决策任务可逐步引入专用模型训练。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1A61A-5550-4224-8D93-B8711F5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成立条件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94774-5CFA-45D3-849D-95E54AD8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有明确目标和可信反馈，改进经过独立验证，新版本实际继承并支持回滚。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B8C40-4BFE-45BD-8EF4-3B86BAE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首期建设应用层持续优化闭环，能力提升由真实任务结果和独立验证确认。</a:t>
            </a:r>
          </a:p>
        </p:txBody>
      </p:sp>
    </p:spTree>
    <p:extLst>
      <p:ext uri="{BB962C8B-B14F-4D97-AF65-F5344CB8AC3E}">
        <p14:creationId xmlns:p14="http://schemas.microsoft.com/office/powerpoint/2010/main" val="1827465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1D699-CF05-4EE1-9DA1-7423304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行业依据  /  产品能力、生产案例与研究探索分别看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69722-6948-4E7A-A9BA-22B0CFD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业界实践与落地进展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F25FC-A3D0-40D3-8AFA-337A1A35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B3EF5-7BE4-407E-8440-629BE1ACF7E5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286000"/>
                <a:gridCol w="3667125"/>
                <a:gridCol w="3495675"/>
              </a:tblGrid>
              <a:tr h="847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实践层次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代表案例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已公开的能力或应用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对本项目的启示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商业产品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Braintrust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评估、用例生成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提示词迭代能力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评估与优化可成为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稳定产品能力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生产案例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Google AlphaEvolve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自动评价与进化搜索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发现算法并用于生产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从可量化任务切入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以验证控制改进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研究探索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Sakana DGM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修改编码 Agent 自身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在编程基准上验证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保留版本与证据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独立验证泛化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2E6E0-4E0C-4B3C-8630-BAF441B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公开案例证明部分路径可行；具体业务收益、通用性与持续改进能力仍需分别验证。</a:t>
            </a:r>
          </a:p>
        </p:txBody>
      </p:sp>
    </p:spTree>
    <p:extLst>
      <p:ext uri="{BB962C8B-B14F-4D97-AF65-F5344CB8AC3E}">
        <p14:creationId xmlns:p14="http://schemas.microsoft.com/office/powerpoint/2010/main" val="1215590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E7A06-2CC5-42FC-A81C-C5935AF3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立项依据  /  以共用能力支撑平台与伙伴场景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D42D-AD96-45EE-A7FB-D3040278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立项必要性与项目价值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3BFB6-D841-4DAE-97D9-64B338AF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8A86E-02D0-4ACA-A613-C81D3C2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平台质量可度量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59F8A-0213-4A03-AD78-01599B3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建立统一评估和版本回归机制，为 AutoDev 研发交付与 TokenHub 路由提供依据。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903A-4DF2-4F88-AE30-6E2BA78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改进经验可积累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655DD-DB69-4AF4-8483-FF5725F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把失败、审核和修订沉淀为样本与技能版本，减少重复调参和人工试错。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2A5F7-1098-4034-B90E-2F7F1D2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场景能力可复用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3C474-28B2-4C78-9B54-C3B945F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自有平台先验证核心能力，再以技能与接口赋能伙伴的报表、图片业务。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CE876-3284-460C-BBDA-626BD35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预期形成评估底座、可复用技能与验证数据资产，效果按阶段验收。</a:t>
            </a:r>
          </a:p>
        </p:txBody>
      </p:sp>
    </p:spTree>
    <p:extLst>
      <p:ext uri="{BB962C8B-B14F-4D97-AF65-F5344CB8AC3E}">
        <p14:creationId xmlns:p14="http://schemas.microsoft.com/office/powerpoint/2010/main" val="1312518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4EDC9-0C8F-4773-959D-21C0E18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申请范围  /  三个月 MVP，按阶段评审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F5FA3-0A8E-4EB3-8C81-4DE2AF4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立项申请与首期建设目标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CEEB9-0F31-48DC-A690-F59A99E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D7067-EA4D-498F-BB58-0D21469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申请启动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486C2-FCDB-4FDC-B282-83874A65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以三个月为首期周期，统筹工程、算法、评估与伙伴协作资源，建立阶段评审机制。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1EAB-AFC4-4F4D-BA77-6F70DB1D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核心建设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B424D-EB7C-4500-9A74-05799C57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统一评估与持续优化底座，AutoDev 质量闭环，TokenHub 质量路由与决策能力。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AD081-907E-4C8C-A438-E8FFF965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DFA64-7CDD-4860-B725-47E1C063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两项自有平台验证报告，一项伙伴技能试点，以及可复用的接口、数据与运行规范。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92BE8-B369-4387-B63E-70BF5C12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投入按阶段配置，范围与验收目标在首月冻结，验证结果决定后续扩展。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1528006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9D3CA-A359-45AC-9893-B764122E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落地分工  /  共用能力，分别推进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17B3F-E679-424D-B941-0D5DFFA6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自有平台建设与合作伙伴赋能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5793-CA89-4D25-A143-7B2FD8C1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C8E96-B2FC-4EBF-9197-A452BFA793A6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162425"/>
                <a:gridCol w="3476625"/>
              </a:tblGrid>
              <a:tr h="6934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推进主体与方式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业务价值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研发质量闭环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自有平台，直接建设与验证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减少错误交付和返工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质量路由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自有平台，直接集成与运营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相同质量下减少总调用成本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合作伙伴推进，我们提供审核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减少数字、口径和结论错误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 Review 与优化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合作伙伴推进，我们提供闭环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提高可交付率，减少重生成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2D09B-F7D2-4036-96AC-605B6B35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自有平台先验证共用能力；伙伴负责场景落地，我们提供技能与评估支持。</a:t>
            </a:r>
          </a:p>
        </p:txBody>
      </p:sp>
    </p:spTree>
    <p:extLst>
      <p:ext uri="{BB962C8B-B14F-4D97-AF65-F5344CB8AC3E}">
        <p14:creationId xmlns:p14="http://schemas.microsoft.com/office/powerpoint/2010/main" val="373164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9E441-4153-46FD-9BE6-7D0BEFF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推进顺序  /  依据复用能力、反馈可信度和试点依赖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DDBC-5060-4BD3-839B-212044A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分阶段建设优先级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23E1F-56B0-4DF7-974F-95C5F564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C004B-AFB0-429E-ADA6-150C751B9F2C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47875"/>
                <a:gridCol w="4162425"/>
                <a:gridCol w="3714750"/>
              </a:tblGrid>
              <a:tr h="6972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排序依据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进入条件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自有平台，先验证共用闭环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任务可重放、成功可验证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自有平台，复用质量决策能力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质量标签、调用量和成本可见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伙伴推进，提供审核技能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伙伴数据、口径与审核负责人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伙伴推进，提供生成优化技能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授权素材、盲评与业务标准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A4FD8-6747-42E1-A484-113165E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内部建设优先前两项；报表与图片由伙伴推进，技能赋能随伙伴准备情况并行。</a:t>
            </a:r>
          </a:p>
        </p:txBody>
      </p:sp>
    </p:spTree>
    <p:extLst>
      <p:ext uri="{BB962C8B-B14F-4D97-AF65-F5344CB8AC3E}">
        <p14:creationId xmlns:p14="http://schemas.microsoft.com/office/powerpoint/2010/main" val="2086391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35834-78EF-4EBE-83B5-DEE7F94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自有平台直接建设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87238-0E36-40FB-8E36-1DC8351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AutoDev：研发质量闭环建设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9E510-9756-407A-BBDB-60C8EB1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9755B-7335-4CFA-92C7-DBEA2D6D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44C6-310F-40D1-99B5-48578A95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更新模型或提示词后，任务完成率波动，测试漏跑，交付需要人工返工。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46C97-859A-4545-A698-31663346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24789-6A6F-44A1-A9ED-5761A3B9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一类固定研发任务，一个可重放环境，配置候选比较、独立回归和版本回滚。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BC671-7145-4BEF-8543-9AE960E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2D3B0-CBC6-473A-916E-3A1F680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评估后台、配置切换适配器、有限优化调度、基线与候选报告、加载回执。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6E049-4E1D-4077-AE62-5EA2C9E2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先优化模型选择、Prompt 或 Skill。权重训练按独立验证结果分阶段引入。</a:t>
            </a:r>
          </a:p>
        </p:txBody>
      </p:sp>
    </p:spTree>
    <p:extLst>
      <p:ext uri="{BB962C8B-B14F-4D97-AF65-F5344CB8AC3E}">
        <p14:creationId xmlns:p14="http://schemas.microsoft.com/office/powerpoint/2010/main" val="1848068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F5E3F-93EB-448A-B336-C33BA9669272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1DA37-D43F-4C82-8489-7329611220EB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F93EC-2F0C-49E9-A481-A65535C85C2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8D351-2667-431F-9ED0-6D1EE3907EC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24391-EF66-4F34-9AF9-ECF78A16DA5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947F2-375E-4072-B210-41E2A002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失败案例成为新回归任务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9A81B-3946-409B-A1E6-33F361DD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529E1-2875-4C9D-BEE0-B0EF18AB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92D0E114-6557-4C49-BA3E-CDF8233C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115D7-2C3C-42F8-B808-C4FB9260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任务执行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6A3C5-64DE-463B-A316-4AB0FC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需求、配置版本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轨迹、产物、成本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C454E0A0-725D-4961-8DE4-B300935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BE0DD-4BC0-4E22-B084-6E361BA3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质量验证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25701-C39E-4388-B12D-B3DB3C4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测试与验收标准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人工复核失败原因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5BB63657-0B1B-4C68-8CB8-496C1996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40428-FA03-4266-85F5-CCB0D2C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配置优化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B267B-B09C-4065-90D8-A7CC1B8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只读开发反馈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有限改 Prompt / Skill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67AA005C-94D7-4690-8EFB-B06850C7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48993-D53F-4FA8-AA66-FFB3B565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独立验收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0C633-2627-42F1-B069-C114310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同条件基线对照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留出收益与回归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D1920D46-8B67-4781-B8FF-176B443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8DF28-A823-4686-89AE-51E9186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EAF72-5A2F-4A00-8A24-6E30ECA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6C208-43F5-47AC-9540-B23D4DE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数据必须关联 task_id、run_id、实际配置与验证证据；优化器不读取留出答案。</a:t>
            </a:r>
          </a:p>
        </p:txBody>
      </p:sp>
    </p:spTree>
    <p:extLst>
      <p:ext uri="{BB962C8B-B14F-4D97-AF65-F5344CB8AC3E}">
        <p14:creationId xmlns:p14="http://schemas.microsoft.com/office/powerpoint/2010/main" val="1202358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CF87-7127-47D4-A8C7-34EEB8B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拟定验收目标，试点前冻结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CA1F4-02EA-4912-AD91-DB81E5A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建设路径与验收目标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5D4FD-5B99-4F09-B18D-E1C60BA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267A2-0699-4122-A773-9A67407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3D044-53C4-4008-8905-F5C36CF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自有平台负责执行链路、配置优化与质量验证，工程和评估共同维护任务标准。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DF926-4F00-4ED5-A8B4-724A782B93A1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任务成功率提高 ≥5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质量底线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关键回归全通过，未知结果单列，成本与时延不超预算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闭环完整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新运行加载正确版本，拒绝、预算停止和回滚演示通过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7BE95-34B2-4E4C-95F8-ECEDAE71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按固定任务范围验证质量改善，控制优化轮数、运行成本和回归风险。</a:t>
            </a:r>
          </a:p>
        </p:txBody>
      </p:sp>
    </p:spTree>
    <p:extLst>
      <p:ext uri="{BB962C8B-B14F-4D97-AF65-F5344CB8AC3E}">
        <p14:creationId xmlns:p14="http://schemas.microsoft.com/office/powerpoint/2010/main" val="18611995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AB719-7F6C-469B-8EC4-6BD8A4AD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自有平台直接集成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BC6A4-619D-45C4-A2CF-C662428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TokenHub：质量路由能力建设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E267D-6354-4D46-9D49-0A22D53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4731C-C3C0-4143-B76B-0FEA5B03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FABC-272B-4439-80B1-650877F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简单任务调用昂贵模型，复杂任务使用便宜模型后失败，整体成本难以控制。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9EEB2-5B41-4E9C-BCD6-E505C28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6BEC4-F91E-4912-B954-3B73990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一种文本任务，固定候选模型，小模型或规则先判断，低把握升级到强模型。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9FC3-CBC2-47B7-86E9-90E9A45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DB8D3-E7BB-4820-9DC0-DDB19699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路由策略、质量判断接口、影子对照、抽检、成本报告和回滚。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6A3F-55DB-4331-98D2-ECEC55C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比较同一质量要求下的完整路径成本，包含判断、升级、重试与人工。</a:t>
            </a:r>
          </a:p>
        </p:txBody>
      </p:sp>
    </p:spTree>
    <p:extLst>
      <p:ext uri="{BB962C8B-B14F-4D97-AF65-F5344CB8AC3E}">
        <p14:creationId xmlns:p14="http://schemas.microsoft.com/office/powerpoint/2010/main" val="152345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72B1C-4F22-4FA8-A4BB-5CFD36F25842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707B1-8BCC-43F8-A4E0-5779E1F64C9C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B6160-326A-49E4-A65C-DF7D9CDF692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66285-943D-4CF1-B501-512AFCEEDAE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7371F-9144-4A1B-BB9B-A159C79F7A2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7B411-29A2-4F4A-9E41-4EF4A94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用实际结果更新决策策略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4C32E-BAC9-44FB-B90C-6075E7CF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FC313-7547-4216-A4CF-7CC0D100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04FAF1AA-ADCB-4EB7-AD41-8C50CE0E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94551-CB0C-424F-9786-0FB631E9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状态采集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E894C-3B6F-4A11-91F7-E760973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任务类型与输入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候选模型和版本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B2C1EAC0-5467-4447-9A03-752560F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4B3DA-C892-44BD-8F9E-51D1B649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路径执行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88119-244A-42B0-A01E-A2B207A9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实际模型与结果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升级、耗时、费用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4EC2DCD0-48E2-4987-9E8E-B34C310D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348CF-8B22-4315-8150-4610E4F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标签与训练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0C43-DC2E-4E41-A9CE-1B8A962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独立审核成功条件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训练 / 校准分开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DB17E2D9-83ED-4CC5-8BBF-CCB83A9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9B008-BBDE-4CC9-9BB5-FC13838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路由验证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4F613-4B7F-46DE-8715-EADEB63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固定质量与样本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成本、风险和覆盖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4DE3223-A887-43DF-AB6F-B5DF7E86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C1163-DE3A-4FA8-B178-B4517F3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0A6AD-2A88-452A-AAF6-222E294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B2DF7-8EF9-4838-9E42-E9C522F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同任务不同路径离线配对；升级后的成功不自动证明原路径需要升级。</a:t>
            </a:r>
          </a:p>
        </p:txBody>
      </p:sp>
    </p:spTree>
    <p:extLst>
      <p:ext uri="{BB962C8B-B14F-4D97-AF65-F5344CB8AC3E}">
        <p14:creationId xmlns:p14="http://schemas.microsoft.com/office/powerpoint/2010/main" val="2171051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4F82B-2E4E-4591-9E2E-A5D1AAD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总成本收益优先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B350E-18CC-4216-A81C-646FE8E0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建设路径与验收目标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3A84F-6FCE-49C3-80A2-0AE1CF7A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326F-3EC9-46E3-8721-B8FD1DA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30101-B618-4A36-BFE3-47B6444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自有平台集成质量判断与路由策略，先影子运行，再按独立质量证据受控放量。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84193-44B3-4F9B-832B-76B5B999E3EF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质量与覆盖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自动继续覆盖 ≥70%，错误放行率的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总成本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达到相同质量门槛时，比强模型全量路径下降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P95 时延和升级比例达冻结目标，依赖失败有兜底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0DE68-6AB3-4002-8A3D-52A1EEB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训练、空闲算力与运维摊销也计入经济性，费用未知时不记为零。</a:t>
            </a:r>
          </a:p>
        </p:txBody>
      </p:sp>
    </p:spTree>
    <p:extLst>
      <p:ext uri="{BB962C8B-B14F-4D97-AF65-F5344CB8AC3E}">
        <p14:creationId xmlns:p14="http://schemas.microsoft.com/office/powerpoint/2010/main" val="1915958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6D4C2-13EB-4252-81CA-41CE66F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41316-E305-4D02-A2D8-DBCCE28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报表审核：伙伴技能赋能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11A6-7537-49F6-8237-60BD514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94E87-F263-4F0C-A348-62AE99CA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EE6FA-72B3-4FB1-8470-51C5DD2C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周报中的数字、统计口径和文字结论不一致，人工核对耗时，重要异常遗漏。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77F30-DBF2-49D8-A857-A6378E5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1BDC1-9627-4616-87DF-67633F89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提供一个固定模板的审核 Skill 与证据接口，伙伴负责数据源、口径和业务接入。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C2D1C-4654-48B7-BD8E-B4CF93F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D77EE-FB1B-4AF9-AE9D-21ACBC5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我们提供审核技能、评估工具与问题支持；伙伴负责场景运营、人工复核和验收。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6CB92-CC72-46E5-98C6-4A614BB4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代码负责计算和口径检查，模型检查语义与证据。因果解释需额外依据。</a:t>
            </a:r>
          </a:p>
        </p:txBody>
      </p:sp>
    </p:spTree>
    <p:extLst>
      <p:ext uri="{BB962C8B-B14F-4D97-AF65-F5344CB8AC3E}">
        <p14:creationId xmlns:p14="http://schemas.microsoft.com/office/powerpoint/2010/main" val="13395879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8AD44-112C-480C-8833-D2F5AA60D8EF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A3655-A402-4760-BFBC-15818F87483A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D1D7E-4EC6-4265-A78E-BECCBB00891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86AD6-5992-4142-BE20-49A2EB13CE8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CC81F-FB68-47C5-859C-1F48C53FF8B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D563F-E806-49C8-BF7B-3787DA6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伙伴提供审核反馈，我们更新技能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AE569-74B3-47BB-98D3-6AC2E0AB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6DFB7-DD2E-4B4B-BECA-C6CF993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164A0D4E-C3DF-4896-BF71-D463D63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36BC6-DDC3-4EDF-ABE3-8D4B4DCC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输入冻结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82F48-FCCF-4B30-A053-E99B0A9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源数据快照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指标与口径版本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938941C-2627-4EDF-A7BC-F6BC6E2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0918A-1B83-43A3-8276-127B34F7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分层审核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99497-86F9-4C06-9B26-136C010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数字与结构检查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结论证据和异常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81E4AEAF-C33F-4716-87A7-07A27833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03F9D-5957-4E5F-A006-B31A21C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人工裁决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B1976-E287-44A4-8D29-2F804DF0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错误位置与原因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保留修改前后版本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F73590C1-450A-4141-BD9A-B3122F3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2D6AB-9606-4663-8533-7E9CCEF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规则更新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5D534-4C51-442A-ABDE-E4BAA6B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审核 Prompt / 模型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新报表独立验证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44D91326-41A7-4483-9233-F3414A2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1577F-5FFB-451E-8A77-76EE607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BC176-5B73-46EA-B627-61A4EDCC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FE1A4-B41A-4D4C-9CBA-3B6CB10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伙伴提供经授权的审核反馈与错误证据；我们按独立验证结果更新技能版本。</a:t>
            </a:r>
          </a:p>
        </p:txBody>
      </p:sp>
    </p:spTree>
    <p:extLst>
      <p:ext uri="{BB962C8B-B14F-4D97-AF65-F5344CB8AC3E}">
        <p14:creationId xmlns:p14="http://schemas.microsoft.com/office/powerpoint/2010/main" val="1907325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1EE3D-9EB0-4A6C-BE27-42327EC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同时验证审核质量和人工收益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F84AA-EDC2-46AD-976C-B10012C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报表审核赋能路径与验收目标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F7108-D293-4A7E-AFE3-598F0A67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43DC1-39DD-40FC-BF7A-D5BB1091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12B8B-E9A6-480D-B044-B8C0088D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伙伴负责业务接入、审核标准和场景验收；我们提供审核 Skill、证据接口与评估支持。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BD8D5-CF88-4A03-A70D-AA4F9794608D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数字与口径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约定指标的确定性检查案例 100% 通过，证据可定位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语义审核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关键结论错误漏检率的 95% 上界 ≤5%，误报单列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业务效率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保持审核质量时，人工审核时间下降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304B6-17F3-4CDE-BC3E-A46621F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伙伴指定审核负责人，双方冻结错误清单与模板，再验证技能效果。</a:t>
            </a:r>
          </a:p>
        </p:txBody>
      </p:sp>
    </p:spTree>
    <p:extLst>
      <p:ext uri="{BB962C8B-B14F-4D97-AF65-F5344CB8AC3E}">
        <p14:creationId xmlns:p14="http://schemas.microsoft.com/office/powerpoint/2010/main" val="1359180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922E6-DA9A-4BD9-B006-A484C01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E7BBA-1DDD-413A-8560-66A22D7A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图片生成：Review 与优化技能赋能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F8BF7-0E2B-4786-AF0B-C176B669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C0D6-2F3E-4D09-8FB0-5C7B18D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CF863-2A47-439A-895C-040512B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同一需求多次生成仍有遗漏、主体或风格偏差，需要人工筛图与修改提示词。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FEB2B-6BBF-44CF-9E8F-507F25CD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C934-8875-4F0C-BBC1-31074168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 Review 与提示词优化 Skill，伙伴确定图片场景、素材、模型和可交付标准。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4333C-38CE-4A96-BA00-E386820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A1663-07C6-48B5-B161-2A443782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我们提供缺陷判断、定向修订与预算控制技能；伙伴负责业务工作流、盲评和验收。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8AB1A-8872-4B80-9305-1B2279AA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图片业务由伙伴选择。我们提供可复用技能，联合确认评估标准与接口。</a:t>
            </a:r>
          </a:p>
        </p:txBody>
      </p:sp>
    </p:spTree>
    <p:extLst>
      <p:ext uri="{BB962C8B-B14F-4D97-AF65-F5344CB8AC3E}">
        <p14:creationId xmlns:p14="http://schemas.microsoft.com/office/powerpoint/2010/main" val="12563253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9655B-0415-4B64-82BA-565D46381CB0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9F976-F0F0-46B8-BEB8-623CBC8ED988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0B3B5-351B-4C7C-96FB-4815C1B15D3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2D7F2-90DE-46D6-8761-C842880B83E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6D17E-4928-4919-A4EA-568D0C94C9F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E0536-FFE1-4512-8429-411B44E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伙伴运行工作流，我们支持技能迭代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2425C-A69D-4A53-9074-DA14DF4F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 Review 与提示词优化闭环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5C3F-608B-43D7-B5EA-CBAE3DA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229F000D-7C12-402F-A0C7-D3694C9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1280D-EBA3-40B9-960B-D25EDCD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生成与留档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DE4E8-BC78-40C1-82BC-8ACF903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要求、参考、seed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 / Prompt 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1AC3B11-7F2E-4258-8D4F-4585D95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06BCE-740F-4CCC-96D1-61D3817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804AC-EB9C-473F-A635-96EFBEA3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硬缺陷与一致性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低把握转人工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579A3FDC-E5BF-4FB4-9F38-EB105EF5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1CBE1-A1B0-447B-A4AF-BED67DAF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定向修订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A6A57-A655-45B0-932A-621A1FE4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按缺陷修改 Prompt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限定轮数与成本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14FEC986-3407-4305-98EA-66A73A9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F0BE3-8EB3-4975-9200-9062427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重生成验证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855B7-7080-4396-BC9D-8299052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独立人工盲评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留出任务和成本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530787C-A7D0-4B28-A739-690498F1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B9599-914C-46C7-B398-35BF86B6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E46E9-3063-49FA-876E-D3EC946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2E590-5527-478A-B190-D4FBD44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伙伴提供授权素材与盲评反馈；我们修订技能，同组隔离并独立验证新版本。</a:t>
            </a:r>
          </a:p>
        </p:txBody>
      </p:sp>
    </p:spTree>
    <p:extLst>
      <p:ext uri="{BB962C8B-B14F-4D97-AF65-F5344CB8AC3E}">
        <p14:creationId xmlns:p14="http://schemas.microsoft.com/office/powerpoint/2010/main" val="17226064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A6EA8-43C0-4A7F-8AE3-9B49ADE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按合格产物核算价值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C4193-7407-4F48-A67B-5C88A59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图片闭环赋能路径与验收目标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ED139-7354-420D-BF0A-819BBF82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44064-0088-4F18-9387-AF3E1789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4B2A4-F46E-4F12-87E6-D55DD99F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伙伴负责素材、业务流程与交付验收；我们提供 Review、提示词优化和评估技能。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F0336-81E9-4B91-9C40-14572359CBCE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审核可靠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自动通过覆盖 ≥60%，误放行率的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可交付率提高 ≥10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在相同可交付标准下，每张合格图片总成本下降 ≥20%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6333A-B260-4429-B363-CCD51B41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生成、审核、失败重试和人工筛图全部计成本；达预算仍失败时明确转人工。</a:t>
            </a:r>
          </a:p>
        </p:txBody>
      </p:sp>
    </p:spTree>
    <p:extLst>
      <p:ext uri="{BB962C8B-B14F-4D97-AF65-F5344CB8AC3E}">
        <p14:creationId xmlns:p14="http://schemas.microsoft.com/office/powerpoint/2010/main" val="8289403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DFDE2-E79B-4F8D-A4EB-653C4E5EF9F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63000" y="50958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90DA8-B4D9-416A-9152-F5DCC83115FE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425113" y="3667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A54E77-428B-46CC-8EE7-2926E30CCB8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29338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F7CE1-546A-4BF1-84FC-57B89E33FAD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686300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BB49A-D5A1-413B-BFBE-CBBD41B1242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6300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83BD9-A30B-47C4-868E-92525E9A551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76925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A49B2-8C00-4843-99E3-9ACB77897E5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3723D-1154-4BFF-92D7-5B38C8F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建设方案  /  四个方向的任务标准分别管理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2E91C-1790-4663-A4E8-8B8C53F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统一评估与持续优化底座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ADF-3D6E-4128-805A-5B880F6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business">
            <a:extLst xmlns:a="http://schemas.openxmlformats.org/drawingml/2006/main">
              <a:ext uri="{FF2B5EF4-FFF2-40B4-BE49-F238E27FC236}">
                <a16:creationId xmlns:a16="http://schemas.microsoft.com/office/drawing/2014/main" id="{D3592C60-071E-4884-99B6-8B1A8DB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9D38E-60CD-4C07-88E3-7503CC1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业务适配层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2D35-AE2A-4371-8764-7B9BF32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/ TokenHub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 / 图片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6EF93EAC-BD54-4762-AC76-277911B9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D5DCF-44A5-4506-8743-BB083A6E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数据与标签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C8D45-3DC4-4A83-A2AD-4DC74D6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输入、结果、证据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开发 / 校准 / 留出</a:t>
            </a:r>
          </a:p>
        </p:txBody>
      </p:sp>
      <p:sp>
        <p:nvSpPr>
          <p:cNvPr id="10" name="eval">
            <a:extLst xmlns:a="http://schemas.openxmlformats.org/drawingml/2006/main">
              <a:ext uri="{FF2B5EF4-FFF2-40B4-BE49-F238E27FC236}">
                <a16:creationId xmlns:a16="http://schemas.microsoft.com/office/drawing/2014/main" id="{1865D60F-C969-495C-A10B-9B55CA29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16E9A-F780-4818-B6E6-C4C4C35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分层评估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918BB-5958-4598-A08F-6F34B8C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代码、模型与人工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标准与裁判版本</a:t>
            </a:r>
          </a:p>
        </p:txBody>
      </p:sp>
      <p:sp>
        <p:nvSpPr>
          <p:cNvPr id="13" name="opt">
            <a:extLst xmlns:a="http://schemas.openxmlformats.org/drawingml/2006/main">
              <a:ext uri="{FF2B5EF4-FFF2-40B4-BE49-F238E27FC236}">
                <a16:creationId xmlns:a16="http://schemas.microsoft.com/office/drawing/2014/main" id="{309C69D5-2F76-4892-917C-1BE753D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38375"/>
            <a:ext cx="2314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66199-3DCB-455F-99D6-0BF388E3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81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受控优化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365D2-7B7B-4B2B-9404-72F7D59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19716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Prompt / Skill / 路由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专用模型训练</a:t>
            </a:r>
          </a:p>
        </p:txBody>
      </p:sp>
      <p:sp>
        <p:nvSpPr>
          <p:cNvPr id="19" name="registry">
            <a:extLst xmlns:a="http://schemas.openxmlformats.org/drawingml/2006/main">
              <a:ext uri="{FF2B5EF4-FFF2-40B4-BE49-F238E27FC236}">
                <a16:creationId xmlns:a16="http://schemas.microsoft.com/office/drawing/2014/main" id="{F5B4426E-60F1-4146-AD0C-2E35EC2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24375"/>
            <a:ext cx="5267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D1134-8A31-48C7-A81D-8B29AD5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67250"/>
            <a:ext cx="4924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证据与版本登记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B0A19-CA28-49EA-8CF3-A1E96BCC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43500"/>
            <a:ext cx="4924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配置、权重、数据、费用、运行 ID 和接受理由</a:t>
            </a:r>
          </a:p>
        </p:txBody>
      </p:sp>
      <p:sp>
        <p:nvSpPr>
          <p:cNvPr id="22" name="release">
            <a:extLst xmlns:a="http://schemas.openxmlformats.org/drawingml/2006/main">
              <a:ext uri="{FF2B5EF4-FFF2-40B4-BE49-F238E27FC236}">
                <a16:creationId xmlns:a16="http://schemas.microsoft.com/office/drawing/2014/main" id="{47366248-312C-4017-AE2D-CADF860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24375"/>
            <a:ext cx="2314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2B097-9DC8-43A1-ACCB-EF68FB8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67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独立验收与发布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28448-C6ED-4DF2-84EF-513B562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43500"/>
            <a:ext cx="1971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收益门槛、灰度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实际继承与回滚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08F9B-06D1-44DC-9FC0-00BD87F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接口统一，业务标准独立。裁判自评、采用记录和普通追问不能替代正确标签。</a:t>
            </a:r>
          </a:p>
        </p:txBody>
      </p:sp>
    </p:spTree>
    <p:extLst>
      <p:ext uri="{BB962C8B-B14F-4D97-AF65-F5344CB8AC3E}">
        <p14:creationId xmlns:p14="http://schemas.microsoft.com/office/powerpoint/2010/main" val="16514082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CE318-99D3-4022-BCB6-D67C739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研发主线  /  一个固定任务先验证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C0542-8582-408D-93CC-3E851A7A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专用决策模型的建设与复用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2D7D1-1CC7-47E7-B4A2-28327E9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22C8B-B5D6-4203-9E76-0A52E3FC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数据与标注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0302-3A9D-423C-AC97-055D209E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采集决策前状态和后验结果，双人独立标注，分歧裁决，按任务组隔离。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1E850-13ED-425D-BC23-C09BE555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训练与验证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D5ECB-5593-468A-A391-FA3A1802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先比较规则与强模型基线，训练固定任务小模型，独立校准概率和验收风险。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1ABE0-F71E-4B6C-B5CF-BD3BF23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9E05D-2D90-4A66-8FDA-89C3725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优先承担质量路由的升级判断；研发与报表单独验证，图片采用独立视觉能力。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017CB-45BB-456A-8355-5E63FF2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按客户和任务积累标签后再扩展分类、选择与排序，不承诺任意新任务直接可用。</a:t>
            </a:r>
          </a:p>
        </p:txBody>
      </p:sp>
    </p:spTree>
    <p:extLst>
      <p:ext uri="{BB962C8B-B14F-4D97-AF65-F5344CB8AC3E}">
        <p14:creationId xmlns:p14="http://schemas.microsoft.com/office/powerpoint/2010/main" val="1843880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36CBC-51B1-4E89-825F-23DFE50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首期实施计划  /  分阶段建设与验证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3A20B-858F-40C6-AC0B-C5AF5FCB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三个月实施计划与阶段成果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2E97-15E4-4549-B0C9-B13ECE1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C6307-C48A-4A1C-AA7E-814F6E5C5A6A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248025"/>
                <a:gridCol w="3248025"/>
                <a:gridCol w="3048000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自有平台建设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伙伴协作与技能赋能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阶段验收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1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共用评估底座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基线与接口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确认伙伴、标准和样本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选择报表或图片试点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任务可重放，标签可信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范围与分工冻结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受控闭环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路由影子运行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交付审核或优化 Skill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伙伴接入样本并试运行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独立质量证据成立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技能接口可联调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前两项验收与灰度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配置继承和回滚验证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伙伴推进场景验证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双方评审技能复用效果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平台效果与技能效果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分别形成验收结论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7A00C-BF45-43B9-B676-06BDA72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自有平台由我们直接推进；报表与图片由伙伴主导，我们提供技能与评估闭环。</a:t>
            </a:r>
          </a:p>
        </p:txBody>
      </p:sp>
    </p:spTree>
    <p:extLst>
      <p:ext uri="{BB962C8B-B14F-4D97-AF65-F5344CB8AC3E}">
        <p14:creationId xmlns:p14="http://schemas.microsoft.com/office/powerpoint/2010/main" val="4237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2026-10-13T03:43:25.0300000Z</dcterms:created>
  <dcterms:modified xsi:type="dcterms:W3CDTF">2026-10-13T03:43:25.0300000Z</dcterms:modified>
</coreProperties>
</file>